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embeddedFontLst>
    <p:embeddedFont>
      <p:font typeface="Nunito"/>
      <p:regular r:id="rId13"/>
      <p:bold r:id="rId14"/>
      <p:italic r:id="rId15"/>
      <p:boldItalic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Nunito-regular.fntdata"/><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Nunito-italic.fntdata"/><Relationship Id="rId14" Type="http://schemas.openxmlformats.org/officeDocument/2006/relationships/font" Target="fonts/Nunito-bold.fntdata"/><Relationship Id="rId16" Type="http://schemas.openxmlformats.org/officeDocument/2006/relationships/font" Target="fonts/Nuni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2f321c4cbe8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2f321c4cbe8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2f321c4cbe8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2f321c4cbe8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2f321c4cbe8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2f321c4cbe8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f321c4cbe8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2f321c4cbe8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f321c4cbe8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2f321c4cbe8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2f321c4cbe8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2f321c4cbe8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3"/>
          <p:cNvSpPr txBox="1"/>
          <p:nvPr>
            <p:ph type="ctrTitle"/>
          </p:nvPr>
        </p:nvSpPr>
        <p:spPr>
          <a:xfrm>
            <a:off x="1354025" y="1822825"/>
            <a:ext cx="6770100" cy="1448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sz="6000">
                <a:solidFill>
                  <a:srgbClr val="000000"/>
                </a:solidFill>
              </a:rPr>
              <a:t>Beginning React</a:t>
            </a:r>
            <a:endParaRPr b="1" sz="6000">
              <a:solidFill>
                <a:srgbClr val="0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4"/>
          <p:cNvSpPr txBox="1"/>
          <p:nvPr>
            <p:ph type="title"/>
          </p:nvPr>
        </p:nvSpPr>
        <p:spPr>
          <a:xfrm>
            <a:off x="471975" y="359700"/>
            <a:ext cx="8236500" cy="42843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a:solidFill>
                  <a:srgbClr val="38761D"/>
                </a:solidFill>
              </a:rPr>
              <a:t>Chapter 12</a:t>
            </a:r>
            <a:endParaRPr b="1">
              <a:solidFill>
                <a:srgbClr val="38761D"/>
              </a:solidFill>
            </a:endParaRPr>
          </a:p>
          <a:p>
            <a:pPr indent="0" lvl="0" marL="0" rtl="0" algn="ctr">
              <a:spcBef>
                <a:spcPts val="0"/>
              </a:spcBef>
              <a:spcAft>
                <a:spcPts val="0"/>
              </a:spcAft>
              <a:buNone/>
            </a:pPr>
            <a:r>
              <a:rPr b="1" lang="en">
                <a:solidFill>
                  <a:srgbClr val="38761D"/>
                </a:solidFill>
              </a:rPr>
              <a:t>Function Or Class-Based Components</a:t>
            </a:r>
            <a:endParaRPr b="1">
              <a:solidFill>
                <a:srgbClr val="38761D"/>
              </a:solidFill>
            </a:endParaRPr>
          </a:p>
          <a:p>
            <a:pPr indent="0" lvl="0" marL="0" rtl="0" algn="ctr">
              <a:spcBef>
                <a:spcPts val="0"/>
              </a:spcBef>
              <a:spcAft>
                <a:spcPts val="0"/>
              </a:spcAft>
              <a:buNone/>
            </a:pPr>
            <a:r>
              <a:rPr b="1" lang="en">
                <a:solidFill>
                  <a:srgbClr val="38761D"/>
                </a:solidFill>
              </a:rPr>
              <a:t>Introducing Hooks</a:t>
            </a:r>
            <a:endParaRPr b="1">
              <a:solidFill>
                <a:srgbClr val="38761D"/>
              </a:solidFill>
            </a:endParaRPr>
          </a:p>
          <a:p>
            <a:pPr indent="0" lvl="0" marL="0" rtl="0" algn="l">
              <a:spcBef>
                <a:spcPts val="0"/>
              </a:spcBef>
              <a:spcAft>
                <a:spcPts val="0"/>
              </a:spcAft>
              <a:buNone/>
            </a:pPr>
            <a:r>
              <a:t/>
            </a:r>
            <a:endParaRPr b="1">
              <a:solidFill>
                <a:srgbClr val="38761D"/>
              </a:solidFill>
            </a:endParaRPr>
          </a:p>
          <a:p>
            <a:pPr indent="0" lvl="0" marL="0" rtl="0" algn="l">
              <a:spcBef>
                <a:spcPts val="0"/>
              </a:spcBef>
              <a:spcAft>
                <a:spcPts val="0"/>
              </a:spcAft>
              <a:buNone/>
            </a:pPr>
            <a:r>
              <a:rPr b="1" lang="en">
                <a:solidFill>
                  <a:srgbClr val="000000"/>
                </a:solidFill>
              </a:rPr>
              <a:t>Brief Summary Of Chapter 12</a:t>
            </a:r>
            <a:endParaRPr b="1">
              <a:solidFill>
                <a:srgbClr val="000000"/>
              </a:solidFill>
            </a:endParaRPr>
          </a:p>
          <a:p>
            <a:pPr indent="-419100" lvl="0" marL="457200" rtl="0" algn="l">
              <a:spcBef>
                <a:spcPts val="0"/>
              </a:spcBef>
              <a:spcAft>
                <a:spcPts val="0"/>
              </a:spcAft>
              <a:buClr>
                <a:srgbClr val="000000"/>
              </a:buClr>
              <a:buSzPts val="3000"/>
              <a:buChar char="●"/>
            </a:pPr>
            <a:r>
              <a:rPr lang="en">
                <a:solidFill>
                  <a:srgbClr val="000000"/>
                </a:solidFill>
              </a:rPr>
              <a:t>Function or Class-Based Components</a:t>
            </a:r>
            <a:endParaRPr>
              <a:solidFill>
                <a:srgbClr val="000000"/>
              </a:solidFill>
            </a:endParaRPr>
          </a:p>
          <a:p>
            <a:pPr indent="-419100" lvl="0" marL="457200" rtl="0" algn="l">
              <a:spcBef>
                <a:spcPts val="0"/>
              </a:spcBef>
              <a:spcAft>
                <a:spcPts val="0"/>
              </a:spcAft>
              <a:buClr>
                <a:srgbClr val="000000"/>
              </a:buClr>
              <a:buSzPts val="3000"/>
              <a:buChar char="●"/>
            </a:pPr>
            <a:r>
              <a:rPr lang="en">
                <a:solidFill>
                  <a:srgbClr val="000000"/>
                </a:solidFill>
              </a:rPr>
              <a:t>What are Hooks</a:t>
            </a:r>
            <a:endParaRPr b="1">
              <a:solidFill>
                <a:srgbClr val="000000"/>
              </a:solidFill>
            </a:endParaRPr>
          </a:p>
          <a:p>
            <a:pPr indent="0" lvl="0" marL="0" rtl="0" algn="l">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5"/>
          <p:cNvSpPr txBox="1"/>
          <p:nvPr>
            <p:ph type="title"/>
          </p:nvPr>
        </p:nvSpPr>
        <p:spPr>
          <a:xfrm>
            <a:off x="311600" y="382600"/>
            <a:ext cx="8431200" cy="4169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a:solidFill>
                  <a:srgbClr val="38761D"/>
                </a:solidFill>
              </a:rPr>
              <a:t>Using</a:t>
            </a:r>
            <a:r>
              <a:rPr b="1" lang="en">
                <a:solidFill>
                  <a:srgbClr val="38761D"/>
                </a:solidFill>
              </a:rPr>
              <a:t> functional-based or class-based</a:t>
            </a:r>
            <a:endParaRPr b="1">
              <a:solidFill>
                <a:srgbClr val="38761D"/>
              </a:solidFill>
            </a:endParaRPr>
          </a:p>
          <a:p>
            <a:pPr indent="0" lvl="0" marL="0" rtl="0" algn="l">
              <a:spcBef>
                <a:spcPts val="0"/>
              </a:spcBef>
              <a:spcAft>
                <a:spcPts val="0"/>
              </a:spcAft>
              <a:buSzPts val="990"/>
              <a:buNone/>
            </a:pPr>
            <a:r>
              <a:t/>
            </a:r>
            <a:endParaRPr b="1" sz="2700">
              <a:solidFill>
                <a:srgbClr val="38761D"/>
              </a:solidFill>
            </a:endParaRPr>
          </a:p>
          <a:p>
            <a:pPr indent="0" lvl="0" marL="0" rtl="0" algn="l">
              <a:spcBef>
                <a:spcPts val="0"/>
              </a:spcBef>
              <a:spcAft>
                <a:spcPts val="0"/>
              </a:spcAft>
              <a:buNone/>
            </a:pPr>
            <a:r>
              <a:rPr b="1" lang="en" sz="1800">
                <a:solidFill>
                  <a:srgbClr val="000000"/>
                </a:solidFill>
              </a:rPr>
              <a:t>React components come in two types: class-based and functional. Both serve to render HTML and handle user interactions. For beginners, a good rule is to use functional components for simple content and minimal logic, while class-based components are better for complex logic and state management.</a:t>
            </a:r>
            <a:endParaRPr b="1" sz="1800">
              <a:solidFill>
                <a:srgbClr val="000000"/>
              </a:solidFill>
            </a:endParaRPr>
          </a:p>
          <a:p>
            <a:pPr indent="0" lvl="0" marL="0" rtl="0" algn="l">
              <a:spcBef>
                <a:spcPts val="0"/>
              </a:spcBef>
              <a:spcAft>
                <a:spcPts val="0"/>
              </a:spcAft>
              <a:buNone/>
            </a:pPr>
            <a:r>
              <a:t/>
            </a:r>
            <a:endParaRPr b="1" sz="1800">
              <a:solidFill>
                <a:srgbClr val="000000"/>
              </a:solidFill>
            </a:endParaRPr>
          </a:p>
          <a:p>
            <a:pPr indent="0" lvl="0" marL="0" rtl="0" algn="l">
              <a:spcBef>
                <a:spcPts val="0"/>
              </a:spcBef>
              <a:spcAft>
                <a:spcPts val="0"/>
              </a:spcAft>
              <a:buNone/>
            </a:pPr>
            <a:r>
              <a:rPr b="1" lang="en" sz="1800">
                <a:solidFill>
                  <a:srgbClr val="000000"/>
                </a:solidFill>
              </a:rPr>
              <a:t>Class-based components provide state and lifecycle methods (e.g., componentDidMount), but the React community is divided on their use. Functional components, on the other hand, traditionally lacked state and lifecycle methods but can now use React Hooks to achieve similar functionality. Hooks make functional components more powerful, potentially reducing the need for class-based components.</a:t>
            </a:r>
            <a:endParaRPr b="1" sz="1800">
              <a:solidFill>
                <a:srgbClr val="000000"/>
              </a:solidFill>
            </a:endParaRPr>
          </a:p>
          <a:p>
            <a:pPr indent="0" lvl="0" marL="0" rtl="0" algn="l">
              <a:spcBef>
                <a:spcPts val="0"/>
              </a:spcBef>
              <a:spcAft>
                <a:spcPts val="0"/>
              </a:spcAft>
              <a:buSzPts val="990"/>
              <a:buNone/>
            </a:pPr>
            <a:r>
              <a:t/>
            </a:r>
            <a:endParaRPr b="1" sz="1400">
              <a:solidFill>
                <a:srgbClr val="38761D"/>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6"/>
          <p:cNvSpPr txBox="1"/>
          <p:nvPr>
            <p:ph type="title"/>
          </p:nvPr>
        </p:nvSpPr>
        <p:spPr>
          <a:xfrm>
            <a:off x="288675" y="279525"/>
            <a:ext cx="8534400" cy="4582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sz="3333">
                <a:solidFill>
                  <a:srgbClr val="38761D"/>
                </a:solidFill>
              </a:rPr>
              <a:t>What are Hooks?</a:t>
            </a:r>
            <a:endParaRPr b="1" sz="3333">
              <a:solidFill>
                <a:srgbClr val="38761D"/>
              </a:solidFill>
            </a:endParaRPr>
          </a:p>
          <a:p>
            <a:pPr indent="0" lvl="0" marL="0" rtl="0" algn="ctr">
              <a:spcBef>
                <a:spcPts val="0"/>
              </a:spcBef>
              <a:spcAft>
                <a:spcPts val="0"/>
              </a:spcAft>
              <a:buNone/>
            </a:pPr>
            <a:r>
              <a:t/>
            </a:r>
            <a:endParaRPr b="1" sz="888">
              <a:solidFill>
                <a:srgbClr val="38761D"/>
              </a:solidFill>
            </a:endParaRPr>
          </a:p>
          <a:p>
            <a:pPr indent="0" lvl="0" marL="0" rtl="0" algn="l">
              <a:spcBef>
                <a:spcPts val="0"/>
              </a:spcBef>
              <a:spcAft>
                <a:spcPts val="0"/>
              </a:spcAft>
              <a:buNone/>
            </a:pPr>
            <a:r>
              <a:rPr b="1" lang="en" sz="2022">
                <a:solidFill>
                  <a:srgbClr val="000000"/>
                </a:solidFill>
              </a:rPr>
              <a:t>Hooks are functions in React that allow you to use state and other React features in functional components, which were previously available only in class-based components. They simplify code by enabling you to manage state </a:t>
            </a:r>
            <a:r>
              <a:rPr b="1" lang="en" sz="2022">
                <a:solidFill>
                  <a:srgbClr val="38761D"/>
                </a:solidFill>
              </a:rPr>
              <a:t>(useState)</a:t>
            </a:r>
            <a:r>
              <a:rPr b="1" lang="en" sz="2022">
                <a:solidFill>
                  <a:srgbClr val="000000"/>
                </a:solidFill>
              </a:rPr>
              <a:t>, handle side effects</a:t>
            </a:r>
            <a:r>
              <a:rPr b="1" lang="en" sz="2022">
                <a:solidFill>
                  <a:srgbClr val="38761D"/>
                </a:solidFill>
              </a:rPr>
              <a:t> (useEffect)</a:t>
            </a:r>
            <a:r>
              <a:rPr b="1" lang="en" sz="2022">
                <a:solidFill>
                  <a:srgbClr val="000000"/>
                </a:solidFill>
              </a:rPr>
              <a:t>, and access context </a:t>
            </a:r>
            <a:r>
              <a:rPr b="1" lang="en" sz="2022">
                <a:solidFill>
                  <a:srgbClr val="38761D"/>
                </a:solidFill>
              </a:rPr>
              <a:t>(useContext)</a:t>
            </a:r>
            <a:r>
              <a:rPr b="1" lang="en" sz="2022">
                <a:solidFill>
                  <a:srgbClr val="000000"/>
                </a:solidFill>
              </a:rPr>
              <a:t> without needing class-based components. Hooks make functional components more powerful and modular, improving code readability and reusability. </a:t>
            </a:r>
            <a:r>
              <a:rPr b="1" lang="en" sz="2022">
                <a:solidFill>
                  <a:srgbClr val="38761D"/>
                </a:solidFill>
              </a:rPr>
              <a:t>filename containing a hook starts with a lower case.</a:t>
            </a:r>
            <a:endParaRPr b="1" sz="2022">
              <a:solidFill>
                <a:srgbClr val="38761D"/>
              </a:solidFill>
            </a:endParaRPr>
          </a:p>
          <a:p>
            <a:pPr indent="0" lvl="0" marL="0" rtl="0" algn="l">
              <a:spcBef>
                <a:spcPts val="0"/>
              </a:spcBef>
              <a:spcAft>
                <a:spcPts val="0"/>
              </a:spcAft>
              <a:buNone/>
            </a:pPr>
            <a:r>
              <a:t/>
            </a:r>
            <a:endParaRPr b="1" sz="1244">
              <a:solidFill>
                <a:srgbClr val="000000"/>
              </a:solidFill>
            </a:endParaRPr>
          </a:p>
          <a:p>
            <a:pPr indent="0" lvl="0" marL="0" rtl="0" algn="l">
              <a:spcBef>
                <a:spcPts val="0"/>
              </a:spcBef>
              <a:spcAft>
                <a:spcPts val="0"/>
              </a:spcAft>
              <a:buNone/>
            </a:pPr>
            <a:r>
              <a:rPr b="1" lang="en" sz="2022">
                <a:solidFill>
                  <a:srgbClr val="38761D"/>
                </a:solidFill>
              </a:rPr>
              <a:t>useState </a:t>
            </a:r>
            <a:r>
              <a:rPr b="1" lang="en" sz="2022">
                <a:solidFill>
                  <a:srgbClr val="000000"/>
                </a:solidFill>
              </a:rPr>
              <a:t>– allows a functional component to use component level state. </a:t>
            </a:r>
            <a:endParaRPr b="1" sz="2022">
              <a:solidFill>
                <a:srgbClr val="000000"/>
              </a:solidFill>
            </a:endParaRPr>
          </a:p>
          <a:p>
            <a:pPr indent="0" lvl="0" marL="0" rtl="0" algn="l">
              <a:spcBef>
                <a:spcPts val="0"/>
              </a:spcBef>
              <a:spcAft>
                <a:spcPts val="0"/>
              </a:spcAft>
              <a:buNone/>
            </a:pPr>
            <a:r>
              <a:rPr b="1" lang="en" sz="2022">
                <a:solidFill>
                  <a:srgbClr val="38761D"/>
                </a:solidFill>
              </a:rPr>
              <a:t>useEffect </a:t>
            </a:r>
            <a:r>
              <a:rPr b="1" lang="en" sz="2022">
                <a:solidFill>
                  <a:srgbClr val="000000"/>
                </a:solidFill>
              </a:rPr>
              <a:t>– allows a functional component to use life cycle methods. </a:t>
            </a:r>
            <a:endParaRPr b="1" sz="2022">
              <a:solidFill>
                <a:srgbClr val="000000"/>
              </a:solidFill>
            </a:endParaRPr>
          </a:p>
          <a:p>
            <a:pPr indent="0" lvl="0" marL="0" rtl="0" algn="l">
              <a:spcBef>
                <a:spcPts val="0"/>
              </a:spcBef>
              <a:spcAft>
                <a:spcPts val="0"/>
              </a:spcAft>
              <a:buNone/>
            </a:pPr>
            <a:r>
              <a:rPr b="1" lang="en" sz="2022">
                <a:solidFill>
                  <a:srgbClr val="38761D"/>
                </a:solidFill>
              </a:rPr>
              <a:t>useContext </a:t>
            </a:r>
            <a:r>
              <a:rPr b="1" lang="en" sz="2022">
                <a:solidFill>
                  <a:srgbClr val="000000"/>
                </a:solidFill>
              </a:rPr>
              <a:t>– allows a functional component to use context system. </a:t>
            </a:r>
            <a:endParaRPr b="1" sz="2022">
              <a:solidFill>
                <a:srgbClr val="000000"/>
              </a:solidFill>
            </a:endParaRPr>
          </a:p>
          <a:p>
            <a:pPr indent="0" lvl="0" marL="0" rtl="0" algn="l">
              <a:spcBef>
                <a:spcPts val="0"/>
              </a:spcBef>
              <a:spcAft>
                <a:spcPts val="0"/>
              </a:spcAft>
              <a:buNone/>
            </a:pPr>
            <a:r>
              <a:rPr b="1" lang="en" sz="2022">
                <a:solidFill>
                  <a:srgbClr val="38761D"/>
                </a:solidFill>
              </a:rPr>
              <a:t>useRef </a:t>
            </a:r>
            <a:r>
              <a:rPr b="1" lang="en" sz="2022">
                <a:solidFill>
                  <a:srgbClr val="000000"/>
                </a:solidFill>
              </a:rPr>
              <a:t>– allows a functional component to use Ref to make reference to a DOM element.</a:t>
            </a:r>
            <a:endParaRPr b="1" sz="2022">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7"/>
          <p:cNvSpPr txBox="1"/>
          <p:nvPr>
            <p:ph type="title"/>
          </p:nvPr>
        </p:nvSpPr>
        <p:spPr>
          <a:xfrm>
            <a:off x="287700" y="394050"/>
            <a:ext cx="8568600" cy="4146900"/>
          </a:xfrm>
          <a:prstGeom prst="rect">
            <a:avLst/>
          </a:prstGeom>
        </p:spPr>
        <p:txBody>
          <a:bodyPr anchorCtr="0" anchor="t" bIns="91425" lIns="91425" spcFirstLastPara="1" rIns="91425" wrap="square" tIns="91425">
            <a:normAutofit/>
          </a:bodyPr>
          <a:lstStyle/>
          <a:p>
            <a:pPr indent="-336550" lvl="0" marL="457200" rtl="0" algn="l">
              <a:spcBef>
                <a:spcPts val="0"/>
              </a:spcBef>
              <a:spcAft>
                <a:spcPts val="0"/>
              </a:spcAft>
              <a:buClr>
                <a:srgbClr val="000000"/>
              </a:buClr>
              <a:buSzPts val="1700"/>
              <a:buChar char="●"/>
            </a:pPr>
            <a:r>
              <a:rPr b="1" lang="en" sz="1700">
                <a:solidFill>
                  <a:srgbClr val="38761D"/>
                </a:solidFill>
              </a:rPr>
              <a:t>In class-based components</a:t>
            </a:r>
            <a:r>
              <a:rPr b="1" lang="en" sz="1700">
                <a:solidFill>
                  <a:srgbClr val="000000"/>
                </a:solidFill>
              </a:rPr>
              <a:t>,</a:t>
            </a:r>
            <a:r>
              <a:rPr b="1" lang="en" sz="1700">
                <a:solidFill>
                  <a:srgbClr val="38761D"/>
                </a:solidFill>
              </a:rPr>
              <a:t> setState </a:t>
            </a:r>
            <a:r>
              <a:rPr b="1" lang="en" sz="1700">
                <a:solidFill>
                  <a:srgbClr val="000000"/>
                </a:solidFill>
              </a:rPr>
              <a:t>updates the component’s state and triggers a re-render. This method is part of React.Component and ensures the component reflects the new state.</a:t>
            </a:r>
            <a:endParaRPr b="1" sz="1700">
              <a:solidFill>
                <a:srgbClr val="000000"/>
              </a:solidFill>
            </a:endParaRPr>
          </a:p>
          <a:p>
            <a:pPr indent="0" lvl="0" marL="457200" rtl="0" algn="l">
              <a:spcBef>
                <a:spcPts val="0"/>
              </a:spcBef>
              <a:spcAft>
                <a:spcPts val="0"/>
              </a:spcAft>
              <a:buNone/>
            </a:pPr>
            <a:r>
              <a:t/>
            </a:r>
            <a:endParaRPr b="1" sz="1033">
              <a:solidFill>
                <a:srgbClr val="000000"/>
              </a:solidFill>
            </a:endParaRPr>
          </a:p>
          <a:p>
            <a:pPr indent="-338666" lvl="0" marL="457200" rtl="0" algn="l">
              <a:spcBef>
                <a:spcPts val="0"/>
              </a:spcBef>
              <a:spcAft>
                <a:spcPts val="0"/>
              </a:spcAft>
              <a:buClr>
                <a:srgbClr val="000000"/>
              </a:buClr>
              <a:buSzPts val="1733"/>
              <a:buChar char="●"/>
            </a:pPr>
            <a:r>
              <a:rPr b="1" lang="en" sz="1733">
                <a:solidFill>
                  <a:srgbClr val="38761D"/>
                </a:solidFill>
              </a:rPr>
              <a:t>In functional components</a:t>
            </a:r>
            <a:r>
              <a:rPr b="1" lang="en" sz="1733">
                <a:solidFill>
                  <a:srgbClr val="000000"/>
                </a:solidFill>
              </a:rPr>
              <a:t>, state updates are managed with the </a:t>
            </a:r>
            <a:r>
              <a:rPr b="1" lang="en" sz="1733">
                <a:solidFill>
                  <a:srgbClr val="38761D"/>
                </a:solidFill>
              </a:rPr>
              <a:t>useState Hook. </a:t>
            </a:r>
            <a:r>
              <a:rPr b="1" lang="en" sz="1733">
                <a:solidFill>
                  <a:srgbClr val="000000"/>
                </a:solidFill>
              </a:rPr>
              <a:t>The setter function from useState (e.g., setRequest, setCounter) updates the state and triggers a re-render.</a:t>
            </a:r>
            <a:endParaRPr b="1" sz="1733">
              <a:solidFill>
                <a:srgbClr val="000000"/>
              </a:solidFill>
            </a:endParaRPr>
          </a:p>
          <a:p>
            <a:pPr indent="0" lvl="0" marL="0" rtl="0" algn="l">
              <a:spcBef>
                <a:spcPts val="0"/>
              </a:spcBef>
              <a:spcAft>
                <a:spcPts val="0"/>
              </a:spcAft>
              <a:buNone/>
            </a:pPr>
            <a:r>
              <a:t/>
            </a:r>
            <a:endParaRPr b="1" sz="1033">
              <a:solidFill>
                <a:srgbClr val="000000"/>
              </a:solidFill>
            </a:endParaRPr>
          </a:p>
          <a:p>
            <a:pPr indent="-336550" lvl="0" marL="457200" rtl="0" algn="l">
              <a:spcBef>
                <a:spcPts val="0"/>
              </a:spcBef>
              <a:spcAft>
                <a:spcPts val="0"/>
              </a:spcAft>
              <a:buClr>
                <a:srgbClr val="000000"/>
              </a:buClr>
              <a:buSzPts val="1700"/>
              <a:buChar char="●"/>
            </a:pPr>
            <a:r>
              <a:rPr b="1" lang="en" sz="1700">
                <a:solidFill>
                  <a:srgbClr val="38761D"/>
                </a:solidFill>
              </a:rPr>
              <a:t>In class-based components</a:t>
            </a:r>
            <a:r>
              <a:rPr b="1" lang="en" sz="1700">
                <a:solidFill>
                  <a:srgbClr val="000000"/>
                </a:solidFill>
              </a:rPr>
              <a:t>, </a:t>
            </a:r>
            <a:r>
              <a:rPr b="1" lang="en" sz="1700">
                <a:solidFill>
                  <a:srgbClr val="38761D"/>
                </a:solidFill>
              </a:rPr>
              <a:t>componentDidMount</a:t>
            </a:r>
            <a:r>
              <a:rPr b="1" lang="en" sz="1700">
                <a:solidFill>
                  <a:srgbClr val="000000"/>
                </a:solidFill>
              </a:rPr>
              <a:t> runs once after a class component has been rendered for the first time. It’s often used for tasks like data fetching or setting up subscriptions.</a:t>
            </a:r>
            <a:endParaRPr b="1" sz="1700">
              <a:solidFill>
                <a:srgbClr val="000000"/>
              </a:solidFill>
            </a:endParaRPr>
          </a:p>
          <a:p>
            <a:pPr indent="0" lvl="0" marL="457200" rtl="0" algn="l">
              <a:spcBef>
                <a:spcPts val="0"/>
              </a:spcBef>
              <a:spcAft>
                <a:spcPts val="0"/>
              </a:spcAft>
              <a:buNone/>
            </a:pPr>
            <a:r>
              <a:t/>
            </a:r>
            <a:endParaRPr b="1" sz="1000">
              <a:solidFill>
                <a:srgbClr val="38761D"/>
              </a:solidFill>
            </a:endParaRPr>
          </a:p>
          <a:p>
            <a:pPr indent="-336550" lvl="0" marL="457200" rtl="0" algn="l">
              <a:spcBef>
                <a:spcPts val="0"/>
              </a:spcBef>
              <a:spcAft>
                <a:spcPts val="0"/>
              </a:spcAft>
              <a:buClr>
                <a:srgbClr val="38761D"/>
              </a:buClr>
              <a:buSzPts val="1700"/>
              <a:buChar char="●"/>
            </a:pPr>
            <a:r>
              <a:rPr b="1" lang="en" sz="1700">
                <a:solidFill>
                  <a:srgbClr val="38761D"/>
                </a:solidFill>
              </a:rPr>
              <a:t>useEffect </a:t>
            </a:r>
            <a:r>
              <a:rPr b="1" lang="en" sz="1700">
                <a:solidFill>
                  <a:srgbClr val="000000"/>
                </a:solidFill>
              </a:rPr>
              <a:t>serves the same purpose as </a:t>
            </a:r>
            <a:r>
              <a:rPr b="1" lang="en" sz="1700">
                <a:solidFill>
                  <a:srgbClr val="38761D"/>
                </a:solidFill>
              </a:rPr>
              <a:t>componentDidMount</a:t>
            </a:r>
            <a:r>
              <a:rPr b="1" lang="en" sz="1700">
                <a:solidFill>
                  <a:srgbClr val="000000"/>
                </a:solidFill>
              </a:rPr>
              <a:t>, but it also combines the functionality of </a:t>
            </a:r>
            <a:r>
              <a:rPr b="1" lang="en" sz="1700">
                <a:solidFill>
                  <a:srgbClr val="38761D"/>
                </a:solidFill>
              </a:rPr>
              <a:t>componentDidUpdate </a:t>
            </a:r>
            <a:r>
              <a:rPr b="1" lang="en" sz="1700">
                <a:solidFill>
                  <a:srgbClr val="000000"/>
                </a:solidFill>
              </a:rPr>
              <a:t>and </a:t>
            </a:r>
            <a:r>
              <a:rPr b="1" lang="en" sz="1700">
                <a:solidFill>
                  <a:srgbClr val="38761D"/>
                </a:solidFill>
              </a:rPr>
              <a:t>componentWillUnmount </a:t>
            </a:r>
            <a:r>
              <a:rPr b="1" lang="en" sz="1700">
                <a:solidFill>
                  <a:srgbClr val="000000"/>
                </a:solidFill>
              </a:rPr>
              <a:t>into a single Hook, handling side effects and cleanup in functional components.</a:t>
            </a:r>
            <a:endParaRPr sz="32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8"/>
          <p:cNvSpPr txBox="1"/>
          <p:nvPr>
            <p:ph type="title"/>
          </p:nvPr>
        </p:nvSpPr>
        <p:spPr>
          <a:xfrm>
            <a:off x="368875" y="371150"/>
            <a:ext cx="8419800" cy="4307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911">
                <a:solidFill>
                  <a:srgbClr val="000000"/>
                </a:solidFill>
              </a:rPr>
              <a:t>In hooks, we move away from declaring an object containing all of our state to declaring the individual state variables themselves. For example, suppose we want a counter in our state. </a:t>
            </a:r>
            <a:endParaRPr b="1" sz="1911">
              <a:solidFill>
                <a:srgbClr val="000000"/>
              </a:solidFill>
            </a:endParaRPr>
          </a:p>
          <a:p>
            <a:pPr indent="0" lvl="0" marL="0" rtl="0" algn="l">
              <a:spcBef>
                <a:spcPts val="0"/>
              </a:spcBef>
              <a:spcAft>
                <a:spcPts val="0"/>
              </a:spcAft>
              <a:buNone/>
            </a:pPr>
            <a:r>
              <a:t/>
            </a:r>
            <a:endParaRPr b="1" sz="1733">
              <a:solidFill>
                <a:srgbClr val="38761D"/>
              </a:solidFill>
            </a:endParaRPr>
          </a:p>
          <a:p>
            <a:pPr indent="0" lvl="0" marL="0" rtl="0" algn="l">
              <a:spcBef>
                <a:spcPts val="0"/>
              </a:spcBef>
              <a:spcAft>
                <a:spcPts val="0"/>
              </a:spcAft>
              <a:buNone/>
            </a:pPr>
            <a:r>
              <a:rPr b="1" lang="en" sz="1733">
                <a:solidFill>
                  <a:srgbClr val="38761D"/>
                </a:solidFill>
              </a:rPr>
              <a:t>In a class component, it would be: </a:t>
            </a:r>
            <a:endParaRPr b="1" sz="1733">
              <a:solidFill>
                <a:srgbClr val="38761D"/>
              </a:solidFill>
            </a:endParaRPr>
          </a:p>
          <a:p>
            <a:pPr indent="0" lvl="0" marL="0" rtl="0" algn="l">
              <a:spcBef>
                <a:spcPts val="0"/>
              </a:spcBef>
              <a:spcAft>
                <a:spcPts val="0"/>
              </a:spcAft>
              <a:buNone/>
            </a:pPr>
            <a:r>
              <a:rPr b="1" lang="en" sz="1733">
                <a:solidFill>
                  <a:srgbClr val="000000"/>
                </a:solidFill>
              </a:rPr>
              <a:t>state = { </a:t>
            </a:r>
            <a:endParaRPr b="1" sz="1733">
              <a:solidFill>
                <a:srgbClr val="000000"/>
              </a:solidFill>
            </a:endParaRPr>
          </a:p>
          <a:p>
            <a:pPr indent="0" lvl="0" marL="0" rtl="0" algn="l">
              <a:spcBef>
                <a:spcPts val="0"/>
              </a:spcBef>
              <a:spcAft>
                <a:spcPts val="0"/>
              </a:spcAft>
              <a:buNone/>
            </a:pPr>
            <a:r>
              <a:rPr b="1" lang="en" sz="1733">
                <a:solidFill>
                  <a:srgbClr val="000000"/>
                </a:solidFill>
              </a:rPr>
              <a:t>requested: postsUrl, </a:t>
            </a:r>
            <a:endParaRPr b="1" sz="1733">
              <a:solidFill>
                <a:srgbClr val="000000"/>
              </a:solidFill>
            </a:endParaRPr>
          </a:p>
          <a:p>
            <a:pPr indent="0" lvl="0" marL="0" rtl="0" algn="l">
              <a:spcBef>
                <a:spcPts val="0"/>
              </a:spcBef>
              <a:spcAft>
                <a:spcPts val="0"/>
              </a:spcAft>
              <a:buNone/>
            </a:pPr>
            <a:r>
              <a:rPr b="1" lang="en" sz="1733">
                <a:solidFill>
                  <a:srgbClr val="000000"/>
                </a:solidFill>
              </a:rPr>
              <a:t>count: 0 </a:t>
            </a:r>
            <a:endParaRPr b="1" sz="1733">
              <a:solidFill>
                <a:srgbClr val="000000"/>
              </a:solidFill>
            </a:endParaRPr>
          </a:p>
          <a:p>
            <a:pPr indent="0" lvl="0" marL="0" rtl="0" algn="l">
              <a:spcBef>
                <a:spcPts val="0"/>
              </a:spcBef>
              <a:spcAft>
                <a:spcPts val="0"/>
              </a:spcAft>
              <a:buNone/>
            </a:pPr>
            <a:r>
              <a:rPr b="1" lang="en" sz="1733">
                <a:solidFill>
                  <a:srgbClr val="000000"/>
                </a:solidFill>
              </a:rPr>
              <a:t>}; </a:t>
            </a:r>
            <a:endParaRPr b="1" sz="1733">
              <a:solidFill>
                <a:srgbClr val="000000"/>
              </a:solidFill>
            </a:endParaRPr>
          </a:p>
          <a:p>
            <a:pPr indent="0" lvl="0" marL="0" rtl="0" algn="l">
              <a:spcBef>
                <a:spcPts val="0"/>
              </a:spcBef>
              <a:spcAft>
                <a:spcPts val="0"/>
              </a:spcAft>
              <a:buNone/>
            </a:pPr>
            <a:r>
              <a:t/>
            </a:r>
            <a:endParaRPr b="1" sz="1733">
              <a:solidFill>
                <a:srgbClr val="38761D"/>
              </a:solidFill>
            </a:endParaRPr>
          </a:p>
          <a:p>
            <a:pPr indent="0" lvl="0" marL="0" rtl="0" algn="l">
              <a:spcBef>
                <a:spcPts val="0"/>
              </a:spcBef>
              <a:spcAft>
                <a:spcPts val="0"/>
              </a:spcAft>
              <a:buNone/>
            </a:pPr>
            <a:r>
              <a:rPr b="1" lang="en" sz="1733">
                <a:solidFill>
                  <a:srgbClr val="38761D"/>
                </a:solidFill>
              </a:rPr>
              <a:t>But for states in a functional component, it would look like: </a:t>
            </a:r>
            <a:endParaRPr b="1" sz="1733">
              <a:solidFill>
                <a:srgbClr val="38761D"/>
              </a:solidFill>
            </a:endParaRPr>
          </a:p>
          <a:p>
            <a:pPr indent="0" lvl="0" marL="0" rtl="0" algn="l">
              <a:spcBef>
                <a:spcPts val="0"/>
              </a:spcBef>
              <a:spcAft>
                <a:spcPts val="0"/>
              </a:spcAft>
              <a:buNone/>
            </a:pPr>
            <a:r>
              <a:rPr b="1" lang="en" sz="1733">
                <a:solidFill>
                  <a:srgbClr val="000000"/>
                </a:solidFill>
              </a:rPr>
              <a:t>const App = () =&gt; { </a:t>
            </a:r>
            <a:endParaRPr b="1" sz="1733">
              <a:solidFill>
                <a:srgbClr val="000000"/>
              </a:solidFill>
            </a:endParaRPr>
          </a:p>
          <a:p>
            <a:pPr indent="0" lvl="0" marL="0" rtl="0" algn="l">
              <a:spcBef>
                <a:spcPts val="0"/>
              </a:spcBef>
              <a:spcAft>
                <a:spcPts val="0"/>
              </a:spcAft>
              <a:buNone/>
            </a:pPr>
            <a:r>
              <a:rPr b="1" lang="en" sz="1733">
                <a:solidFill>
                  <a:srgbClr val="000000"/>
                </a:solidFill>
              </a:rPr>
              <a:t>const [requested, setRequested] = useState(postsUrl) </a:t>
            </a:r>
            <a:endParaRPr b="1" sz="1733">
              <a:solidFill>
                <a:srgbClr val="000000"/>
              </a:solidFill>
            </a:endParaRPr>
          </a:p>
          <a:p>
            <a:pPr indent="0" lvl="0" marL="0" rtl="0" algn="l">
              <a:spcBef>
                <a:spcPts val="0"/>
              </a:spcBef>
              <a:spcAft>
                <a:spcPts val="0"/>
              </a:spcAft>
              <a:buNone/>
            </a:pPr>
            <a:r>
              <a:rPr b="1" lang="en" sz="1733">
                <a:solidFill>
                  <a:srgbClr val="000000"/>
                </a:solidFill>
              </a:rPr>
              <a:t>const [counter, setCounter] = useState(0)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9"/>
          <p:cNvSpPr txBox="1"/>
          <p:nvPr>
            <p:ph type="ctrTitle"/>
          </p:nvPr>
        </p:nvSpPr>
        <p:spPr>
          <a:xfrm>
            <a:off x="1079100" y="1822825"/>
            <a:ext cx="6793200" cy="1448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sz="6000">
                <a:solidFill>
                  <a:srgbClr val="000000"/>
                </a:solidFill>
              </a:rPr>
              <a:t>End Of Chapter 12</a:t>
            </a:r>
            <a:endParaRPr b="1" sz="6000">
              <a:solidFill>
                <a:srgbClr val="000000"/>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