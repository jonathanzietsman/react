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Nuni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-bold.fntdata"/><Relationship Id="rId16" Type="http://schemas.openxmlformats.org/officeDocument/2006/relationships/font" Target="fonts/Nuni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boldItalic.fntdata"/><Relationship Id="rId6" Type="http://schemas.openxmlformats.org/officeDocument/2006/relationships/slide" Target="slides/slide1.xml"/><Relationship Id="rId18" Type="http://schemas.openxmlformats.org/officeDocument/2006/relationships/font" Target="fonts/Nuni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f2b774c16f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f2b774c16f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f2b774c16f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f2b774c16f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f2b774c16f_0_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f2b774c16f_0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f2b774c16f_0_4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f2b774c16f_0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f2b774c16f_0_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f2b774c16f_0_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f2b774c16f_0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f2b774c16f_0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f2b774c16f_0_4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f2b774c16f_0_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f2b774c16f_0_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f2b774c16f_0_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f2b774c16f_0_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f2b774c16f_0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onsole.firebase.google.com/" TargetMode="External"/><Relationship Id="rId4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jsonplaceholder.typicode.com/users" TargetMode="External"/><Relationship Id="rId4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230950" y="1822825"/>
            <a:ext cx="6296100" cy="142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rgbClr val="000000"/>
                </a:solidFill>
              </a:rPr>
              <a:t>Beginning React</a:t>
            </a:r>
            <a:endParaRPr b="1" sz="6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/>
          <p:cNvSpPr txBox="1"/>
          <p:nvPr>
            <p:ph type="title"/>
          </p:nvPr>
        </p:nvSpPr>
        <p:spPr>
          <a:xfrm>
            <a:off x="404525" y="319700"/>
            <a:ext cx="8188200" cy="42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>
                <a:solidFill>
                  <a:srgbClr val="38761D"/>
                </a:solidFill>
              </a:rPr>
              <a:t>Chapter 9:  </a:t>
            </a:r>
            <a:endParaRPr b="1">
              <a:solidFill>
                <a:srgbClr val="38761D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>
                <a:solidFill>
                  <a:srgbClr val="38761D"/>
                </a:solidFill>
              </a:rPr>
              <a:t>C.R.U.D With FireBase</a:t>
            </a:r>
            <a:endParaRPr b="1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23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>
                <a:solidFill>
                  <a:srgbClr val="38761D"/>
                </a:solidFill>
              </a:rPr>
              <a:t>Brief Summary Of Chapter 9</a:t>
            </a:r>
            <a:endParaRPr b="1">
              <a:solidFill>
                <a:srgbClr val="38761D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Char char="●"/>
            </a:pPr>
            <a:r>
              <a:rPr lang="en" sz="2500">
                <a:solidFill>
                  <a:srgbClr val="000000"/>
                </a:solidFill>
              </a:rPr>
              <a:t>What is Firebase</a:t>
            </a:r>
            <a:endParaRPr sz="2500">
              <a:solidFill>
                <a:srgbClr val="000000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Char char="●"/>
            </a:pPr>
            <a:r>
              <a:rPr lang="en" sz="2500">
                <a:solidFill>
                  <a:srgbClr val="000000"/>
                </a:solidFill>
              </a:rPr>
              <a:t>Using Firebase</a:t>
            </a:r>
            <a:endParaRPr sz="2500">
              <a:solidFill>
                <a:srgbClr val="000000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Char char="●"/>
            </a:pPr>
            <a:r>
              <a:rPr lang="en" sz="2500">
                <a:solidFill>
                  <a:srgbClr val="000000"/>
                </a:solidFill>
              </a:rPr>
              <a:t>Adding Firebase to our React Project</a:t>
            </a:r>
            <a:endParaRPr sz="2500">
              <a:solidFill>
                <a:srgbClr val="000000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Char char="●"/>
            </a:pPr>
            <a:r>
              <a:rPr lang="en" sz="2500">
                <a:solidFill>
                  <a:srgbClr val="000000"/>
                </a:solidFill>
              </a:rPr>
              <a:t>Working with a Firebase Database</a:t>
            </a:r>
            <a:endParaRPr sz="2500">
              <a:solidFill>
                <a:srgbClr val="000000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Char char="●"/>
            </a:pPr>
            <a:r>
              <a:rPr lang="en" sz="2500">
                <a:solidFill>
                  <a:srgbClr val="000000"/>
                </a:solidFill>
              </a:rPr>
              <a:t>Displaying List Of Users</a:t>
            </a:r>
            <a:endParaRPr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5"/>
          <p:cNvSpPr txBox="1"/>
          <p:nvPr>
            <p:ph type="title"/>
          </p:nvPr>
        </p:nvSpPr>
        <p:spPr>
          <a:xfrm>
            <a:off x="426275" y="330575"/>
            <a:ext cx="8275200" cy="44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</a:rPr>
              <a:t>What is Firebase?</a:t>
            </a:r>
            <a:endParaRPr b="1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5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11">
                <a:solidFill>
                  <a:srgbClr val="000000"/>
                </a:solidFill>
              </a:rPr>
              <a:t>Firebase is Google's real-time database that offers a powerful backend platform for building fast and scalable apps without needing to write server-side code or manage relational databases. Using a NoSQL structure, Firebase stores data as a tree of JSON objects, increasing productivity by eliminating the need for complex table schemas. It also provides automatic, real-time updates, ensuring all connected clients see changes instantly without refreshing the page.</a:t>
            </a:r>
            <a:endParaRPr b="1" sz="181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1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11">
                <a:solidFill>
                  <a:srgbClr val="000000"/>
                </a:solidFill>
              </a:rPr>
              <a:t>A NoSQL database uses flexible JSON structures instead of tables, making it easier to manage. However, for complex queries and reporting, a relational database may be better. Firebase eliminates the need for traditional RESTful services, offering seamless integration with React, especially in handling data and state management. Additionally, Firebase provides a variety of services like Authentication, cloud messaging, hosting, and analytics, with flexible pricing options, making it a versatile choice for developers.</a:t>
            </a:r>
            <a:endParaRPr b="1" sz="181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922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6"/>
          <p:cNvSpPr txBox="1"/>
          <p:nvPr>
            <p:ph type="title"/>
          </p:nvPr>
        </p:nvSpPr>
        <p:spPr>
          <a:xfrm>
            <a:off x="393650" y="374075"/>
            <a:ext cx="8220900" cy="44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</a:rPr>
              <a:t>Using Firbase</a:t>
            </a:r>
            <a:endParaRPr b="1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38761D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700"/>
              <a:buChar char="●"/>
            </a:pPr>
            <a:r>
              <a:rPr b="1" lang="en" sz="1700">
                <a:solidFill>
                  <a:srgbClr val="000000"/>
                </a:solidFill>
              </a:rPr>
              <a:t>Create a Firebase Account</a:t>
            </a:r>
            <a:r>
              <a:rPr b="1" lang="en" sz="1700">
                <a:solidFill>
                  <a:srgbClr val="38761D"/>
                </a:solidFill>
              </a:rPr>
              <a:t> </a:t>
            </a:r>
            <a:r>
              <a:rPr lang="en" sz="17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Firebase console (google.com)</a:t>
            </a:r>
            <a:endParaRPr b="1" sz="1700">
              <a:solidFill>
                <a:srgbClr val="38761D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b="1" lang="en" sz="1700">
                <a:solidFill>
                  <a:srgbClr val="000000"/>
                </a:solidFill>
              </a:rPr>
              <a:t>Click on Create Your Project</a:t>
            </a:r>
            <a:endParaRPr b="1" sz="1700">
              <a:solidFill>
                <a:srgbClr val="000000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b="1" lang="en" sz="1700">
                <a:solidFill>
                  <a:srgbClr val="000000"/>
                </a:solidFill>
              </a:rPr>
              <a:t>When you get to this page </a:t>
            </a:r>
            <a:r>
              <a:rPr b="1" lang="en" sz="1700">
                <a:solidFill>
                  <a:srgbClr val="38761D"/>
                </a:solidFill>
              </a:rPr>
              <a:t>"Get started by adding Firebase to your app"</a:t>
            </a:r>
            <a:endParaRPr b="1" sz="1700">
              <a:solidFill>
                <a:srgbClr val="38761D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b="1" lang="en" sz="1700">
                <a:solidFill>
                  <a:srgbClr val="000000"/>
                </a:solidFill>
              </a:rPr>
              <a:t>Notice there are 4 icons, Click on the third one which looks like (</a:t>
            </a:r>
            <a:r>
              <a:rPr b="1" lang="en" sz="1700">
                <a:solidFill>
                  <a:srgbClr val="38761D"/>
                </a:solidFill>
              </a:rPr>
              <a:t>&lt;/&gt;</a:t>
            </a:r>
            <a:r>
              <a:rPr b="1" lang="en" sz="1700">
                <a:solidFill>
                  <a:srgbClr val="000000"/>
                </a:solidFill>
              </a:rPr>
              <a:t>)</a:t>
            </a:r>
            <a:endParaRPr b="1" sz="1700">
              <a:solidFill>
                <a:srgbClr val="000000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b="1" lang="en" sz="1700">
                <a:solidFill>
                  <a:srgbClr val="000000"/>
                </a:solidFill>
              </a:rPr>
              <a:t>Clicking the icon directs you to a page to create a nickname for your app.</a:t>
            </a:r>
            <a:endParaRPr b="1" sz="1700">
              <a:solidFill>
                <a:srgbClr val="000000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b="1" lang="en" sz="1700">
                <a:solidFill>
                  <a:srgbClr val="38761D"/>
                </a:solidFill>
              </a:rPr>
              <a:t>Figure 1(next slide)</a:t>
            </a:r>
            <a:r>
              <a:rPr b="1" lang="en" sz="1700">
                <a:solidFill>
                  <a:srgbClr val="000000"/>
                </a:solidFill>
              </a:rPr>
              <a:t>.</a:t>
            </a:r>
            <a:endParaRPr b="1" sz="1700">
              <a:solidFill>
                <a:srgbClr val="000000"/>
              </a:solidFill>
            </a:endParaRPr>
          </a:p>
        </p:txBody>
      </p:sp>
      <p:pic>
        <p:nvPicPr>
          <p:cNvPr id="144" name="Google Shape;14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1375" y="2571750"/>
            <a:ext cx="4143101" cy="216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"/>
          <p:cNvSpPr txBox="1"/>
          <p:nvPr>
            <p:ph type="title"/>
          </p:nvPr>
        </p:nvSpPr>
        <p:spPr>
          <a:xfrm>
            <a:off x="317475" y="287125"/>
            <a:ext cx="4697700" cy="456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38761D"/>
                </a:solidFill>
              </a:rPr>
              <a:t>Figure 1</a:t>
            </a:r>
            <a:endParaRPr b="1" sz="2500">
              <a:solidFill>
                <a:srgbClr val="38761D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n" sz="1800">
                <a:solidFill>
                  <a:srgbClr val="000000"/>
                </a:solidFill>
              </a:rPr>
              <a:t>Leave the checkbox Unchecked</a:t>
            </a:r>
            <a:endParaRPr b="1" sz="1800"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b="1" lang="en" sz="1800">
                <a:solidFill>
                  <a:srgbClr val="000000"/>
                </a:solidFill>
              </a:rPr>
              <a:t>After you register code in Figure 2 will be displayed</a:t>
            </a:r>
            <a:endParaRPr b="1" sz="2000">
              <a:solidFill>
                <a:srgbClr val="000000"/>
              </a:solidFill>
            </a:endParaRPr>
          </a:p>
        </p:txBody>
      </p:sp>
      <p:sp>
        <p:nvSpPr>
          <p:cNvPr id="150" name="Google Shape;150;p17"/>
          <p:cNvSpPr txBox="1"/>
          <p:nvPr>
            <p:ph type="title"/>
          </p:nvPr>
        </p:nvSpPr>
        <p:spPr>
          <a:xfrm>
            <a:off x="4971575" y="287125"/>
            <a:ext cx="3915900" cy="44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38761D"/>
                </a:solidFill>
              </a:rPr>
              <a:t>Figure 2</a:t>
            </a:r>
            <a:endParaRPr sz="2500"/>
          </a:p>
        </p:txBody>
      </p:sp>
      <p:pic>
        <p:nvPicPr>
          <p:cNvPr id="151" name="Google Shape;15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000" y="1689850"/>
            <a:ext cx="3480000" cy="288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1150" y="1080900"/>
            <a:ext cx="3776749" cy="319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8"/>
          <p:cNvSpPr txBox="1"/>
          <p:nvPr>
            <p:ph type="title"/>
          </p:nvPr>
        </p:nvSpPr>
        <p:spPr>
          <a:xfrm>
            <a:off x="252275" y="297950"/>
            <a:ext cx="8612400" cy="45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33">
                <a:solidFill>
                  <a:srgbClr val="38761D"/>
                </a:solidFill>
              </a:rPr>
              <a:t>Adding Firebase to our React Project</a:t>
            </a:r>
            <a:endParaRPr b="1" sz="3033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33">
              <a:solidFill>
                <a:srgbClr val="38761D"/>
              </a:solidFill>
            </a:endParaRPr>
          </a:p>
          <a:p>
            <a:pPr indent="-332316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Char char="●"/>
            </a:pPr>
            <a:r>
              <a:rPr b="1" lang="en" sz="1633">
                <a:solidFill>
                  <a:srgbClr val="000000"/>
                </a:solidFill>
              </a:rPr>
              <a:t>After </a:t>
            </a:r>
            <a:r>
              <a:rPr b="1" lang="en" sz="1633">
                <a:solidFill>
                  <a:srgbClr val="38761D"/>
                </a:solidFill>
              </a:rPr>
              <a:t>npx create-react-app reactcrud</a:t>
            </a:r>
            <a:r>
              <a:rPr b="1" lang="en" sz="1633">
                <a:solidFill>
                  <a:srgbClr val="000000"/>
                </a:solidFill>
              </a:rPr>
              <a:t> and </a:t>
            </a:r>
            <a:r>
              <a:rPr b="1" lang="en" sz="1633">
                <a:solidFill>
                  <a:srgbClr val="38761D"/>
                </a:solidFill>
              </a:rPr>
              <a:t>npm install firebase --save</a:t>
            </a:r>
            <a:endParaRPr b="1" sz="1633">
              <a:solidFill>
                <a:srgbClr val="38761D"/>
              </a:solidFill>
            </a:endParaRPr>
          </a:p>
          <a:p>
            <a:pPr indent="-332316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Char char="●"/>
            </a:pPr>
            <a:r>
              <a:rPr b="1" lang="en" sz="1633">
                <a:solidFill>
                  <a:srgbClr val="000000"/>
                </a:solidFill>
              </a:rPr>
              <a:t>The code in bold should be replaced with </a:t>
            </a:r>
            <a:r>
              <a:rPr b="1" lang="en" sz="1633">
                <a:solidFill>
                  <a:srgbClr val="38761D"/>
                </a:solidFill>
              </a:rPr>
              <a:t>your own properties</a:t>
            </a:r>
            <a:r>
              <a:rPr b="1" lang="en" sz="1633">
                <a:solidFill>
                  <a:srgbClr val="000000"/>
                </a:solidFill>
              </a:rPr>
              <a:t> from the firebase.</a:t>
            </a:r>
            <a:endParaRPr b="1" sz="1633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33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33">
                <a:solidFill>
                  <a:srgbClr val="38761D"/>
                </a:solidFill>
              </a:rPr>
              <a:t>Code for importing firebase:</a:t>
            </a:r>
            <a:endParaRPr b="1" sz="2033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33">
                <a:solidFill>
                  <a:srgbClr val="000000"/>
                </a:solidFill>
              </a:rPr>
              <a:t>import firebase from 'firebase/compat/app';</a:t>
            </a:r>
            <a:endParaRPr b="1" sz="1633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33">
                <a:solidFill>
                  <a:srgbClr val="000000"/>
                </a:solidFill>
              </a:rPr>
              <a:t>import 'firebase/compat/database';</a:t>
            </a:r>
            <a:endParaRPr b="1" sz="1633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33">
                <a:solidFill>
                  <a:srgbClr val="000000"/>
                </a:solidFill>
              </a:rPr>
              <a:t>import 'firebase/compat/auth';</a:t>
            </a:r>
            <a:endParaRPr b="1" sz="1633">
              <a:solidFill>
                <a:srgbClr val="000000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compat </a:t>
            </a: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 the compatibility layer in Firebase that allows you to use the older namespaced API with the newer SDK.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lang="en" sz="1500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auth </a:t>
            </a:r>
            <a:r>
              <a:rPr b="1" lang="en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service in Firebase provides user authentication and management capabilities for your application, handling user sign-up and sign-in while supporting various authentication methods.</a:t>
            </a:r>
            <a:endParaRPr b="1"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Char char="●"/>
            </a:pPr>
            <a:r>
              <a:rPr b="1" lang="en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lang="en" sz="1500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database </a:t>
            </a:r>
            <a:r>
              <a:rPr b="1" lang="en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service in Firebase provides access to the Realtime Database.</a:t>
            </a:r>
            <a:endParaRPr b="1" sz="15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9"/>
          <p:cNvSpPr txBox="1"/>
          <p:nvPr>
            <p:ph type="title"/>
          </p:nvPr>
        </p:nvSpPr>
        <p:spPr>
          <a:xfrm>
            <a:off x="309300" y="471950"/>
            <a:ext cx="8525400" cy="38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33">
                <a:solidFill>
                  <a:srgbClr val="38761D"/>
                </a:solidFill>
              </a:rPr>
              <a:t>Working with a Firebase Database</a:t>
            </a:r>
            <a:endParaRPr b="1" sz="3333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b="1" lang="en" sz="2000">
                <a:solidFill>
                  <a:srgbClr val="000000"/>
                </a:solidFill>
              </a:rPr>
              <a:t>Within your firebase account, </a:t>
            </a:r>
            <a:r>
              <a:rPr b="1" lang="en" sz="2000">
                <a:solidFill>
                  <a:srgbClr val="38761D"/>
                </a:solidFill>
              </a:rPr>
              <a:t>Open Your project</a:t>
            </a:r>
            <a:endParaRPr b="1" sz="2000">
              <a:solidFill>
                <a:srgbClr val="38761D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b="1" lang="en" sz="2000">
                <a:solidFill>
                  <a:srgbClr val="000000"/>
                </a:solidFill>
              </a:rPr>
              <a:t>Within the </a:t>
            </a:r>
            <a:r>
              <a:rPr b="1" lang="en" sz="2000">
                <a:solidFill>
                  <a:srgbClr val="38761D"/>
                </a:solidFill>
              </a:rPr>
              <a:t>Build Section</a:t>
            </a:r>
            <a:r>
              <a:rPr b="1" lang="en" sz="2000">
                <a:solidFill>
                  <a:srgbClr val="000000"/>
                </a:solidFill>
              </a:rPr>
              <a:t> open </a:t>
            </a:r>
            <a:r>
              <a:rPr b="1" lang="en" sz="2000">
                <a:solidFill>
                  <a:srgbClr val="38761D"/>
                </a:solidFill>
              </a:rPr>
              <a:t>Realtime Database</a:t>
            </a:r>
            <a:endParaRPr b="1" sz="2000">
              <a:solidFill>
                <a:srgbClr val="38761D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b="1" lang="en" sz="2000">
                <a:solidFill>
                  <a:srgbClr val="38761D"/>
                </a:solidFill>
              </a:rPr>
              <a:t>Create Database</a:t>
            </a:r>
            <a:r>
              <a:rPr b="1" lang="en" sz="2000">
                <a:solidFill>
                  <a:srgbClr val="000000"/>
                </a:solidFill>
              </a:rPr>
              <a:t> and select </a:t>
            </a:r>
            <a:r>
              <a:rPr b="1" lang="en" sz="2000">
                <a:solidFill>
                  <a:srgbClr val="38761D"/>
                </a:solidFill>
              </a:rPr>
              <a:t>test mode</a:t>
            </a:r>
            <a:endParaRPr b="1" sz="20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22">
                <a:solidFill>
                  <a:srgbClr val="38761D"/>
                </a:solidFill>
              </a:rPr>
              <a:t>Difference Between Realtime Database and Firestore:</a:t>
            </a:r>
            <a:endParaRPr b="1" sz="2222">
              <a:solidFill>
                <a:srgbClr val="38761D"/>
              </a:solidFill>
            </a:endParaRPr>
          </a:p>
          <a:p>
            <a:pPr indent="-332104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" sz="1811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Realtime Database</a:t>
            </a:r>
            <a:r>
              <a:rPr b="1" lang="en" sz="181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a Firebase service that stores and synchronizes data in real time across all connected clients.</a:t>
            </a:r>
            <a:endParaRPr b="1" sz="181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210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" sz="1811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Firestore </a:t>
            </a:r>
            <a:r>
              <a:rPr b="1" lang="en" sz="181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(also known as Cloud Firestore) is a flexible, scalable, and real-time NoSQL database provided by Firebase. It is designed to handle large amounts of data and provide real-time synchronization across multiple clients.</a:t>
            </a:r>
            <a:endParaRPr b="1" sz="2111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0"/>
          <p:cNvSpPr txBox="1"/>
          <p:nvPr>
            <p:ph type="title"/>
          </p:nvPr>
        </p:nvSpPr>
        <p:spPr>
          <a:xfrm>
            <a:off x="437150" y="352325"/>
            <a:ext cx="8199300" cy="43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8761D"/>
                </a:solidFill>
              </a:rPr>
              <a:t>Displaying List Of Users</a:t>
            </a:r>
            <a:endParaRPr b="1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38761D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Char char="●"/>
            </a:pPr>
            <a:r>
              <a:rPr b="1" lang="en" sz="1800">
                <a:solidFill>
                  <a:srgbClr val="000000"/>
                </a:solidFill>
              </a:rPr>
              <a:t>Getting your users here:</a:t>
            </a:r>
            <a:r>
              <a:rPr b="1" lang="en" sz="1800">
                <a:solidFill>
                  <a:srgbClr val="38761D"/>
                </a:solidFill>
              </a:rPr>
              <a:t> </a:t>
            </a:r>
            <a:r>
              <a:rPr lang="en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jsonplaceholder.typicode.com/users</a:t>
            </a:r>
            <a:endParaRPr b="1" sz="1800">
              <a:solidFill>
                <a:srgbClr val="38761D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n" sz="1800">
                <a:solidFill>
                  <a:srgbClr val="000000"/>
                </a:solidFill>
              </a:rPr>
              <a:t>Add all users into a new file called users.json</a:t>
            </a:r>
            <a:endParaRPr b="1"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n" sz="1800">
                <a:solidFill>
                  <a:srgbClr val="000000"/>
                </a:solidFill>
              </a:rPr>
              <a:t>Add users within realtime database using import json</a:t>
            </a:r>
            <a:endParaRPr b="1"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000000"/>
              </a:solidFill>
            </a:endParaRPr>
          </a:p>
        </p:txBody>
      </p:sp>
      <p:pic>
        <p:nvPicPr>
          <p:cNvPr id="168" name="Google Shape;16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7350" y="2309675"/>
            <a:ext cx="3944750" cy="209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1"/>
          <p:cNvSpPr txBox="1"/>
          <p:nvPr>
            <p:ph type="title"/>
          </p:nvPr>
        </p:nvSpPr>
        <p:spPr>
          <a:xfrm>
            <a:off x="306650" y="341450"/>
            <a:ext cx="8449200" cy="44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38761D"/>
                </a:solidFill>
              </a:rPr>
              <a:t>Notes:</a:t>
            </a:r>
            <a:endParaRPr b="1" sz="2700">
              <a:solidFill>
                <a:srgbClr val="38761D"/>
              </a:solidFill>
            </a:endParaRPr>
          </a:p>
          <a:p>
            <a:pPr indent="-3530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 sz="2177">
                <a:solidFill>
                  <a:srgbClr val="000000"/>
                </a:solidFill>
              </a:rPr>
              <a:t>When creating your </a:t>
            </a:r>
            <a:r>
              <a:rPr b="1" lang="en" sz="2177">
                <a:solidFill>
                  <a:srgbClr val="38761D"/>
                </a:solidFill>
              </a:rPr>
              <a:t>UserForm.js</a:t>
            </a:r>
            <a:r>
              <a:rPr b="1" lang="en" sz="2177">
                <a:solidFill>
                  <a:srgbClr val="000000"/>
                </a:solidFill>
              </a:rPr>
              <a:t> file replace this code: </a:t>
            </a:r>
            <a:endParaRPr b="1" sz="2177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77">
                <a:solidFill>
                  <a:srgbClr val="38761D"/>
                </a:solidFill>
              </a:rPr>
              <a:t>}).then(() =&gt;this.props.history.push("/"));</a:t>
            </a:r>
            <a:endParaRPr b="1" sz="2177">
              <a:solidFill>
                <a:srgbClr val="38761D"/>
              </a:solidFill>
            </a:endParaRPr>
          </a:p>
          <a:p>
            <a:pPr indent="-35306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b="1" lang="en" sz="2177">
                <a:solidFill>
                  <a:srgbClr val="000000"/>
                </a:solidFill>
              </a:rPr>
              <a:t>With this one:        </a:t>
            </a:r>
            <a:r>
              <a:rPr b="1" lang="en" sz="2177">
                <a:solidFill>
                  <a:srgbClr val="38761D"/>
                </a:solidFill>
              </a:rPr>
              <a:t>}).then(() =&gt; {window.location.href = "/";  });</a:t>
            </a:r>
            <a:endParaRPr b="1" sz="2177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77">
              <a:solidFill>
                <a:srgbClr val="38761D"/>
              </a:solidFill>
            </a:endParaRPr>
          </a:p>
          <a:p>
            <a:pPr indent="-3467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 sz="2066">
                <a:solidFill>
                  <a:srgbClr val="000000"/>
                </a:solidFill>
              </a:rPr>
              <a:t>When you get to</a:t>
            </a:r>
            <a:r>
              <a:rPr b="1" lang="en" sz="2066">
                <a:solidFill>
                  <a:srgbClr val="38761D"/>
                </a:solidFill>
              </a:rPr>
              <a:t> 9.8 Updating a User </a:t>
            </a:r>
            <a:r>
              <a:rPr b="1" lang="en" sz="2066">
                <a:solidFill>
                  <a:srgbClr val="000000"/>
                </a:solidFill>
              </a:rPr>
              <a:t>replace this code:</a:t>
            </a:r>
            <a:r>
              <a:rPr b="1" lang="en" sz="2066">
                <a:solidFill>
                  <a:srgbClr val="38761D"/>
                </a:solidFill>
              </a:rPr>
              <a:t>  </a:t>
            </a:r>
            <a:endParaRPr b="1" sz="2066">
              <a:solidFill>
                <a:srgbClr val="38761D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66">
                <a:solidFill>
                  <a:srgbClr val="38761D"/>
                </a:solidFill>
              </a:rPr>
              <a:t>export default UserForm;</a:t>
            </a:r>
            <a:endParaRPr b="1" sz="2066">
              <a:solidFill>
                <a:srgbClr val="38761D"/>
              </a:solidFill>
            </a:endParaRPr>
          </a:p>
          <a:p>
            <a:pPr indent="-34671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b="1" lang="en" sz="2066">
                <a:solidFill>
                  <a:srgbClr val="000000"/>
                </a:solidFill>
              </a:rPr>
              <a:t>With this one:</a:t>
            </a:r>
            <a:endParaRPr b="1" sz="2066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77">
                <a:solidFill>
                  <a:srgbClr val="000000"/>
                </a:solidFill>
              </a:rPr>
              <a:t>export default (props) =&gt; ( </a:t>
            </a:r>
            <a:endParaRPr b="1" sz="2177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77">
                <a:solidFill>
                  <a:srgbClr val="000000"/>
                </a:solidFill>
              </a:rPr>
              <a:t>&lt; UserForm  {...props} </a:t>
            </a:r>
            <a:endParaRPr b="1" sz="2177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77">
                <a:solidFill>
                  <a:srgbClr val="000000"/>
                </a:solidFill>
              </a:rPr>
              <a:t>params={useParams()} </a:t>
            </a:r>
            <a:endParaRPr b="1" sz="2177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77">
                <a:solidFill>
                  <a:srgbClr val="000000"/>
                </a:solidFill>
              </a:rPr>
              <a:t>/&gt;</a:t>
            </a:r>
            <a:endParaRPr b="1" sz="2177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77">
                <a:solidFill>
                  <a:srgbClr val="000000"/>
                </a:solidFill>
              </a:rPr>
              <a:t>);</a:t>
            </a:r>
            <a:endParaRPr b="1" sz="2177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2"/>
          <p:cNvSpPr txBox="1"/>
          <p:nvPr>
            <p:ph type="ctrTitle"/>
          </p:nvPr>
        </p:nvSpPr>
        <p:spPr>
          <a:xfrm>
            <a:off x="1143975" y="1822825"/>
            <a:ext cx="64266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rgbClr val="000000"/>
                </a:solidFill>
              </a:rPr>
              <a:t>End Of Chapter 9</a:t>
            </a:r>
            <a:endParaRPr b="1" sz="6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