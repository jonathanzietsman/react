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Calibri" panose="020F0502020204030204" pitchFamily="34" charset="0"/>
      <p:regular r:id="rId11"/>
      <p:bold r:id="rId12"/>
      <p:italic r:id="rId13"/>
      <p:boldItalic r:id="rId14"/>
    </p:embeddedFont>
    <p:embeddedFont>
      <p:font typeface="Nunito"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varScale="1">
        <p:scale>
          <a:sx n="122" d="100"/>
          <a:sy n="122" d="100"/>
        </p:scale>
        <p:origin x="326"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1c177cef9d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1c177cef9d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1c177cef9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1c177cef9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1c177cef9d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1c177cef9d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1c177cef9d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1c177cef9d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1c177cef9d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1c177cef9d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1c177cef9d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1c177cef9d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1c177cef9d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1c177cef9d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what-are-the-differences-between-npm-and-npx/"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540700" y="1822825"/>
            <a:ext cx="6223800" cy="1587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6055" b="1">
                <a:solidFill>
                  <a:srgbClr val="000000"/>
                </a:solidFill>
              </a:rPr>
              <a:t>Beginning React</a:t>
            </a:r>
            <a:endParaRPr sz="6055"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4"/>
          <p:cNvSpPr txBox="1">
            <a:spLocks noGrp="1"/>
          </p:cNvSpPr>
          <p:nvPr>
            <p:ph type="title"/>
          </p:nvPr>
        </p:nvSpPr>
        <p:spPr>
          <a:xfrm>
            <a:off x="354650" y="497900"/>
            <a:ext cx="8268900" cy="3957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b="1">
                <a:solidFill>
                  <a:srgbClr val="38761D"/>
                </a:solidFill>
                <a:highlight>
                  <a:schemeClr val="dk1"/>
                </a:highlight>
              </a:rPr>
              <a:t>Chapter 1: Introduction</a:t>
            </a:r>
            <a:endParaRPr sz="3800" b="1">
              <a:solidFill>
                <a:srgbClr val="38761D"/>
              </a:solidFill>
              <a:highlight>
                <a:schemeClr val="dk1"/>
              </a:highlight>
            </a:endParaRPr>
          </a:p>
          <a:p>
            <a:pPr marL="0" lvl="0" indent="0" algn="l" rtl="0">
              <a:spcBef>
                <a:spcPts val="0"/>
              </a:spcBef>
              <a:spcAft>
                <a:spcPts val="0"/>
              </a:spcAft>
              <a:buNone/>
            </a:pPr>
            <a:endParaRPr sz="3200"/>
          </a:p>
          <a:p>
            <a:pPr marL="0" lvl="0" indent="0" algn="l" rtl="0">
              <a:spcBef>
                <a:spcPts val="0"/>
              </a:spcBef>
              <a:spcAft>
                <a:spcPts val="0"/>
              </a:spcAft>
              <a:buNone/>
            </a:pPr>
            <a:r>
              <a:rPr lang="en" sz="3200" b="1">
                <a:solidFill>
                  <a:srgbClr val="000000"/>
                </a:solidFill>
                <a:highlight>
                  <a:schemeClr val="dk1"/>
                </a:highlight>
              </a:rPr>
              <a:t>Brief Summary of Chapter 1</a:t>
            </a:r>
            <a:endParaRPr sz="2200" b="1">
              <a:solidFill>
                <a:srgbClr val="000000"/>
              </a:solidFill>
              <a:highlight>
                <a:schemeClr val="dk1"/>
              </a:highlight>
            </a:endParaRPr>
          </a:p>
          <a:p>
            <a:pPr marL="457200" lvl="0" indent="-412750" algn="l" rtl="0">
              <a:spcBef>
                <a:spcPts val="0"/>
              </a:spcBef>
              <a:spcAft>
                <a:spcPts val="0"/>
              </a:spcAft>
              <a:buClr>
                <a:srgbClr val="000000"/>
              </a:buClr>
              <a:buSzPts val="2900"/>
              <a:buChar char="●"/>
            </a:pPr>
            <a:r>
              <a:rPr lang="en" sz="2900">
                <a:solidFill>
                  <a:srgbClr val="000000"/>
                </a:solidFill>
              </a:rPr>
              <a:t>What is React</a:t>
            </a:r>
            <a:endParaRPr sz="2900">
              <a:solidFill>
                <a:srgbClr val="000000"/>
              </a:solidFill>
            </a:endParaRPr>
          </a:p>
          <a:p>
            <a:pPr marL="457200" lvl="0" indent="-412750" algn="l" rtl="0">
              <a:spcBef>
                <a:spcPts val="0"/>
              </a:spcBef>
              <a:spcAft>
                <a:spcPts val="0"/>
              </a:spcAft>
              <a:buClr>
                <a:srgbClr val="000000"/>
              </a:buClr>
              <a:buSzPts val="2900"/>
              <a:buChar char="●"/>
            </a:pPr>
            <a:r>
              <a:rPr lang="en" sz="2900">
                <a:solidFill>
                  <a:srgbClr val="000000"/>
                </a:solidFill>
              </a:rPr>
              <a:t>What is a Component</a:t>
            </a:r>
            <a:endParaRPr sz="2900">
              <a:solidFill>
                <a:srgbClr val="000000"/>
              </a:solidFill>
            </a:endParaRPr>
          </a:p>
          <a:p>
            <a:pPr marL="457200" lvl="0" indent="-412750" algn="l" rtl="0">
              <a:spcBef>
                <a:spcPts val="0"/>
              </a:spcBef>
              <a:spcAft>
                <a:spcPts val="0"/>
              </a:spcAft>
              <a:buClr>
                <a:srgbClr val="000000"/>
              </a:buClr>
              <a:buSzPts val="2900"/>
              <a:buChar char="●"/>
            </a:pPr>
            <a:r>
              <a:rPr lang="en" sz="2900">
                <a:solidFill>
                  <a:srgbClr val="000000"/>
                </a:solidFill>
              </a:rPr>
              <a:t>Setting up React</a:t>
            </a:r>
            <a:endParaRPr sz="2900">
              <a:solidFill>
                <a:srgbClr val="000000"/>
              </a:solidFill>
            </a:endParaRPr>
          </a:p>
          <a:p>
            <a:pPr marL="457200" lvl="0" indent="-412750" algn="l" rtl="0">
              <a:spcBef>
                <a:spcPts val="0"/>
              </a:spcBef>
              <a:spcAft>
                <a:spcPts val="0"/>
              </a:spcAft>
              <a:buClr>
                <a:srgbClr val="000000"/>
              </a:buClr>
              <a:buSzPts val="2900"/>
              <a:buChar char="●"/>
            </a:pPr>
            <a:r>
              <a:rPr lang="en" sz="2900">
                <a:solidFill>
                  <a:srgbClr val="000000"/>
                </a:solidFill>
              </a:rPr>
              <a:t>Creating Your First React Project</a:t>
            </a:r>
            <a:endParaRPr sz="29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5"/>
          <p:cNvSpPr txBox="1">
            <a:spLocks noGrp="1"/>
          </p:cNvSpPr>
          <p:nvPr>
            <p:ph type="title"/>
          </p:nvPr>
        </p:nvSpPr>
        <p:spPr>
          <a:xfrm>
            <a:off x="354650" y="427450"/>
            <a:ext cx="8454900" cy="4074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b="1">
                <a:solidFill>
                  <a:srgbClr val="38761D"/>
                </a:solidFill>
                <a:highlight>
                  <a:schemeClr val="dk1"/>
                </a:highlight>
              </a:rPr>
              <a:t>What is React?</a:t>
            </a:r>
            <a:endParaRPr sz="3800" b="1">
              <a:solidFill>
                <a:srgbClr val="38761D"/>
              </a:solidFill>
              <a:highlight>
                <a:schemeClr val="dk1"/>
              </a:highlight>
            </a:endParaRPr>
          </a:p>
          <a:p>
            <a:pPr marL="0" lvl="0" indent="0" algn="l" rtl="0">
              <a:spcBef>
                <a:spcPts val="0"/>
              </a:spcBef>
              <a:spcAft>
                <a:spcPts val="0"/>
              </a:spcAft>
              <a:buNone/>
            </a:pPr>
            <a:endParaRPr sz="3200"/>
          </a:p>
          <a:p>
            <a:pPr marL="0" lvl="0" indent="0" algn="l" rtl="0">
              <a:spcBef>
                <a:spcPts val="0"/>
              </a:spcBef>
              <a:spcAft>
                <a:spcPts val="0"/>
              </a:spcAft>
              <a:buNone/>
            </a:pPr>
            <a:r>
              <a:rPr lang="en" sz="1966" b="1">
                <a:solidFill>
                  <a:srgbClr val="000000"/>
                </a:solidFill>
                <a:highlight>
                  <a:schemeClr val="dk1"/>
                </a:highlight>
              </a:rPr>
              <a:t>React, created by Facebook, is a framework for building Single Page Applications (SPAs). Unlike traditional websites that reload HTML pages from the server with each click, SPAs load a single HTML page and use JavaScript to dynamically update the content. This approach reduces server requests and enhances speed by updating the view directly on the client side, making navigation feel faster and smoother. Examples include Facebook's newsfeed, Instagram, and Twitter, where content updates without needing to reload or navigate to new pages.</a:t>
            </a:r>
            <a:endParaRPr sz="7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6"/>
          <p:cNvSpPr txBox="1">
            <a:spLocks noGrp="1"/>
          </p:cNvSpPr>
          <p:nvPr>
            <p:ph type="title"/>
          </p:nvPr>
        </p:nvSpPr>
        <p:spPr>
          <a:xfrm>
            <a:off x="354650" y="427450"/>
            <a:ext cx="8454900" cy="4074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b="1">
                <a:solidFill>
                  <a:srgbClr val="000000"/>
                </a:solidFill>
                <a:highlight>
                  <a:schemeClr val="dk1"/>
                </a:highlight>
              </a:rPr>
              <a:t>Manipulating DOM Elements Efficiently</a:t>
            </a:r>
            <a:endParaRPr sz="3800" b="1">
              <a:solidFill>
                <a:srgbClr val="000000"/>
              </a:solidFill>
              <a:highlight>
                <a:schemeClr val="dk1"/>
              </a:highlight>
            </a:endParaRPr>
          </a:p>
          <a:p>
            <a:pPr marL="0" lvl="0" indent="0" algn="l" rtl="0">
              <a:spcBef>
                <a:spcPts val="0"/>
              </a:spcBef>
              <a:spcAft>
                <a:spcPts val="0"/>
              </a:spcAft>
              <a:buNone/>
            </a:pPr>
            <a:endParaRPr sz="3200"/>
          </a:p>
          <a:p>
            <a:pPr marL="0" lvl="0" indent="0" algn="l" rtl="0">
              <a:spcBef>
                <a:spcPts val="0"/>
              </a:spcBef>
              <a:spcAft>
                <a:spcPts val="0"/>
              </a:spcAft>
              <a:buNone/>
            </a:pPr>
            <a:r>
              <a:rPr lang="en" sz="1966" b="1">
                <a:solidFill>
                  <a:srgbClr val="000000"/>
                </a:solidFill>
                <a:highlight>
                  <a:schemeClr val="dk1"/>
                </a:highlight>
              </a:rPr>
              <a:t>Updating views in Single Page Applications (SPAs) can be slow due to complex and costly DOM operations. React addresses this by using a virtual DOM. Instead of directly manipulating the browser’s DOM, React updates a virtual DOM made of JavaScript objects, which is faster. React then efficiently synchronizes these changes with the actual browser DOM, enhancing performance and speeding up the user experience.</a:t>
            </a:r>
            <a:endParaRPr sz="7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379650" y="638825"/>
            <a:ext cx="8384700" cy="3159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b="1">
                <a:solidFill>
                  <a:srgbClr val="38761D"/>
                </a:solidFill>
                <a:highlight>
                  <a:schemeClr val="dk1"/>
                </a:highlight>
              </a:rPr>
              <a:t>What is a Component</a:t>
            </a:r>
            <a:endParaRPr sz="3800" b="1">
              <a:solidFill>
                <a:srgbClr val="38761D"/>
              </a:solidFill>
              <a:highlight>
                <a:schemeClr val="dk1"/>
              </a:highlight>
            </a:endParaRPr>
          </a:p>
          <a:p>
            <a:pPr marL="0" lvl="0" indent="0" algn="l" rtl="0">
              <a:spcBef>
                <a:spcPts val="0"/>
              </a:spcBef>
              <a:spcAft>
                <a:spcPts val="0"/>
              </a:spcAft>
              <a:buNone/>
            </a:pPr>
            <a:endParaRPr sz="3200"/>
          </a:p>
          <a:p>
            <a:pPr marL="0" lvl="0" indent="0" algn="l" rtl="0">
              <a:spcBef>
                <a:spcPts val="0"/>
              </a:spcBef>
              <a:spcAft>
                <a:spcPts val="0"/>
              </a:spcAft>
              <a:buNone/>
            </a:pPr>
            <a:r>
              <a:rPr lang="en" sz="1966" b="1">
                <a:solidFill>
                  <a:srgbClr val="000000"/>
                </a:solidFill>
                <a:highlight>
                  <a:schemeClr val="dk1"/>
                </a:highlight>
              </a:rPr>
              <a:t>A React app is built from components, each with its own JSX template for rendering HTML, as well as its own data and logic. Components can be nested, allowing complex UIs to be made from smaller, reusable parts. For example, a products component might include several product components, each with its own rating component.</a:t>
            </a:r>
            <a:endParaRPr sz="7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a:spLocks noGrp="1"/>
          </p:cNvSpPr>
          <p:nvPr>
            <p:ph type="title"/>
          </p:nvPr>
        </p:nvSpPr>
        <p:spPr>
          <a:xfrm>
            <a:off x="231732" y="231732"/>
            <a:ext cx="8655484" cy="4221271"/>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800" b="1" dirty="0">
                <a:solidFill>
                  <a:srgbClr val="38761D"/>
                </a:solidFill>
                <a:highlight>
                  <a:schemeClr val="dk1"/>
                </a:highlight>
              </a:rPr>
              <a:t>Setting up React</a:t>
            </a:r>
            <a:endParaRPr sz="3800" b="1" dirty="0">
              <a:solidFill>
                <a:srgbClr val="38761D"/>
              </a:solidFill>
              <a:highlight>
                <a:schemeClr val="dk1"/>
              </a:highlight>
            </a:endParaRPr>
          </a:p>
          <a:p>
            <a:pPr marL="0" lvl="0" indent="0" algn="l" rtl="0">
              <a:spcBef>
                <a:spcPts val="0"/>
              </a:spcBef>
              <a:spcAft>
                <a:spcPts val="0"/>
              </a:spcAft>
              <a:buNone/>
            </a:pPr>
            <a:r>
              <a:rPr lang="en" sz="1966" b="1" dirty="0">
                <a:solidFill>
                  <a:srgbClr val="FF9900"/>
                </a:solidFill>
                <a:highlight>
                  <a:schemeClr val="dk1"/>
                </a:highlight>
              </a:rPr>
              <a:t>NB! Only install node if you are not making use of the latest version.</a:t>
            </a:r>
            <a:endParaRPr sz="1966" b="1" dirty="0">
              <a:solidFill>
                <a:srgbClr val="FF9900"/>
              </a:solidFill>
              <a:highlight>
                <a:schemeClr val="dk1"/>
              </a:highlight>
            </a:endParaRPr>
          </a:p>
          <a:p>
            <a:pPr marL="0" lvl="0" indent="0" algn="l" rtl="0">
              <a:spcBef>
                <a:spcPts val="0"/>
              </a:spcBef>
              <a:spcAft>
                <a:spcPts val="0"/>
              </a:spcAft>
              <a:buNone/>
            </a:pPr>
            <a:endParaRPr sz="2266" b="1" dirty="0">
              <a:solidFill>
                <a:srgbClr val="38761D"/>
              </a:solidFill>
              <a:highlight>
                <a:schemeClr val="dk1"/>
              </a:highlight>
            </a:endParaRPr>
          </a:p>
          <a:p>
            <a:pPr marL="0" lvl="0" indent="0" algn="l" rtl="0">
              <a:spcBef>
                <a:spcPts val="0"/>
              </a:spcBef>
              <a:spcAft>
                <a:spcPts val="0"/>
              </a:spcAft>
              <a:buNone/>
            </a:pPr>
            <a:r>
              <a:rPr lang="en" sz="2266" b="1" dirty="0">
                <a:solidFill>
                  <a:srgbClr val="38761D"/>
                </a:solidFill>
                <a:highlight>
                  <a:schemeClr val="dk1"/>
                </a:highlight>
              </a:rPr>
              <a:t>Installing Create-React-App</a:t>
            </a:r>
            <a:endParaRPr sz="2266" b="1" dirty="0">
              <a:solidFill>
                <a:srgbClr val="38761D"/>
              </a:solidFill>
              <a:highlight>
                <a:schemeClr val="dk1"/>
              </a:highlight>
            </a:endParaRPr>
          </a:p>
          <a:p>
            <a:pPr marL="0" lvl="0" indent="0" algn="l" rtl="0">
              <a:spcBef>
                <a:spcPts val="0"/>
              </a:spcBef>
              <a:spcAft>
                <a:spcPts val="0"/>
              </a:spcAft>
              <a:buNone/>
            </a:pPr>
            <a:r>
              <a:rPr lang="en" sz="1966" b="1" dirty="0">
                <a:solidFill>
                  <a:schemeClr val="tx2">
                    <a:lumMod val="10000"/>
                  </a:schemeClr>
                </a:solidFill>
                <a:highlight>
                  <a:schemeClr val="dk1"/>
                </a:highlight>
              </a:rPr>
              <a:t>create-react-app is the easiest way to start a new React single-page application. It sets up your development environment with the latest JavaScript features and optimizations. This Command Line Interface tool simplifies tasks like creating projects, adding files, and handling testing, bundling, and deployment, using tools like Babel and Webpack without manual configuration.</a:t>
            </a:r>
            <a:br>
              <a:rPr lang="en" sz="1966" b="1" dirty="0">
                <a:solidFill>
                  <a:srgbClr val="000000"/>
                </a:solidFill>
                <a:highlight>
                  <a:schemeClr val="dk1"/>
                </a:highlight>
              </a:rPr>
            </a:br>
            <a:br>
              <a:rPr lang="en" sz="1966" b="1" dirty="0">
                <a:solidFill>
                  <a:srgbClr val="000000"/>
                </a:solidFill>
                <a:highlight>
                  <a:schemeClr val="dk1"/>
                </a:highlight>
              </a:rPr>
            </a:br>
            <a:endParaRPr sz="1700" b="1" dirty="0">
              <a:solidFill>
                <a:srgbClr val="000000"/>
              </a:solidFill>
              <a:highlight>
                <a:schemeClr val="dk1"/>
              </a:highlight>
            </a:endParaRPr>
          </a:p>
          <a:p>
            <a:r>
              <a:rPr lang="en-US" sz="2000" b="1" dirty="0">
                <a:solidFill>
                  <a:schemeClr val="tx2">
                    <a:lumMod val="10000"/>
                  </a:schemeClr>
                </a:solidFill>
                <a:highlight>
                  <a:schemeClr val="dk1"/>
                </a:highlight>
              </a:rPr>
              <a:t>To install ‘</a:t>
            </a:r>
            <a:r>
              <a:rPr lang="en-US" sz="2000" b="1" i="1" dirty="0">
                <a:solidFill>
                  <a:schemeClr val="tx2">
                    <a:lumMod val="10000"/>
                  </a:schemeClr>
                </a:solidFill>
                <a:highlight>
                  <a:schemeClr val="dk1"/>
                </a:highlight>
              </a:rPr>
              <a:t>create-react-app</a:t>
            </a:r>
            <a:r>
              <a:rPr lang="en-US" sz="2000" b="1" dirty="0">
                <a:solidFill>
                  <a:schemeClr val="tx2">
                    <a:lumMod val="10000"/>
                  </a:schemeClr>
                </a:solidFill>
                <a:highlight>
                  <a:schemeClr val="dk1"/>
                </a:highlight>
              </a:rPr>
              <a:t>’ from the command line, run the following:</a:t>
            </a:r>
            <a:br>
              <a:rPr lang="en-US" b="1" dirty="0">
                <a:solidFill>
                  <a:srgbClr val="7030A0"/>
                </a:solidFill>
                <a:highlight>
                  <a:schemeClr val="dk1"/>
                </a:highlight>
              </a:rPr>
            </a:br>
            <a:r>
              <a:rPr lang="en-ZA" sz="2000" b="1" dirty="0" err="1">
                <a:solidFill>
                  <a:srgbClr val="7030A0"/>
                </a:solidFill>
                <a:highlight>
                  <a:schemeClr val="dk1"/>
                </a:highlight>
              </a:rPr>
              <a:t>npm</a:t>
            </a:r>
            <a:r>
              <a:rPr lang="en-ZA" sz="2000" b="1" dirty="0">
                <a:solidFill>
                  <a:srgbClr val="7030A0"/>
                </a:solidFill>
                <a:highlight>
                  <a:schemeClr val="dk1"/>
                </a:highlight>
              </a:rPr>
              <a:t> install -g create-react-app</a:t>
            </a:r>
            <a:endParaRPr sz="2000" b="1" dirty="0">
              <a:solidFill>
                <a:srgbClr val="7030A0"/>
              </a:solidFill>
              <a:highlight>
                <a:schemeClr val="dk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9"/>
          <p:cNvSpPr txBox="1">
            <a:spLocks noGrp="1"/>
          </p:cNvSpPr>
          <p:nvPr>
            <p:ph type="title"/>
          </p:nvPr>
        </p:nvSpPr>
        <p:spPr>
          <a:xfrm>
            <a:off x="401625" y="580100"/>
            <a:ext cx="8314200" cy="33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b="1">
                <a:solidFill>
                  <a:srgbClr val="38761D"/>
                </a:solidFill>
                <a:highlight>
                  <a:schemeClr val="dk1"/>
                </a:highlight>
              </a:rPr>
              <a:t>Creating your First React Project</a:t>
            </a:r>
            <a:endParaRPr sz="3800" b="1">
              <a:solidFill>
                <a:srgbClr val="38761D"/>
              </a:solidFill>
              <a:highlight>
                <a:schemeClr val="dk1"/>
              </a:highlight>
            </a:endParaRPr>
          </a:p>
          <a:p>
            <a:pPr marL="0" lvl="0" indent="0" algn="l" rtl="0">
              <a:spcBef>
                <a:spcPts val="0"/>
              </a:spcBef>
              <a:spcAft>
                <a:spcPts val="0"/>
              </a:spcAft>
              <a:buNone/>
            </a:pPr>
            <a:endParaRPr sz="1966" b="1">
              <a:solidFill>
                <a:srgbClr val="38761D"/>
              </a:solidFill>
              <a:highlight>
                <a:srgbClr val="FFFF00"/>
              </a:highlight>
            </a:endParaRPr>
          </a:p>
          <a:p>
            <a:pPr marL="0" lvl="0" indent="0" algn="l" rtl="0">
              <a:spcBef>
                <a:spcPts val="0"/>
              </a:spcBef>
              <a:spcAft>
                <a:spcPts val="0"/>
              </a:spcAft>
              <a:buNone/>
            </a:pPr>
            <a:r>
              <a:rPr lang="en" sz="2266" b="1">
                <a:solidFill>
                  <a:srgbClr val="000000"/>
                </a:solidFill>
                <a:highlight>
                  <a:schemeClr val="dk1"/>
                </a:highlight>
              </a:rPr>
              <a:t>You can make use of both </a:t>
            </a:r>
            <a:r>
              <a:rPr lang="en" sz="2266" b="1">
                <a:solidFill>
                  <a:srgbClr val="38761D"/>
                </a:solidFill>
                <a:highlight>
                  <a:schemeClr val="dk1"/>
                </a:highlight>
              </a:rPr>
              <a:t>npx </a:t>
            </a:r>
            <a:r>
              <a:rPr lang="en" sz="2266" b="1">
                <a:solidFill>
                  <a:srgbClr val="000000"/>
                </a:solidFill>
                <a:highlight>
                  <a:schemeClr val="dk1"/>
                </a:highlight>
              </a:rPr>
              <a:t>and </a:t>
            </a:r>
            <a:r>
              <a:rPr lang="en" sz="2266" b="1">
                <a:solidFill>
                  <a:srgbClr val="38761D"/>
                </a:solidFill>
                <a:highlight>
                  <a:schemeClr val="dk1"/>
                </a:highlight>
              </a:rPr>
              <a:t>npm </a:t>
            </a:r>
            <a:r>
              <a:rPr lang="en" sz="2266" b="1">
                <a:solidFill>
                  <a:srgbClr val="000000"/>
                </a:solidFill>
                <a:highlight>
                  <a:schemeClr val="dk1"/>
                </a:highlight>
              </a:rPr>
              <a:t>to create your project.  </a:t>
            </a:r>
            <a:r>
              <a:rPr lang="en" sz="1966" b="1">
                <a:solidFill>
                  <a:srgbClr val="38761D"/>
                </a:solidFill>
                <a:highlight>
                  <a:schemeClr val="dk1"/>
                </a:highlight>
              </a:rPr>
              <a:t>npx create-react-app Project_Name</a:t>
            </a:r>
            <a:endParaRPr sz="1966" b="1">
              <a:solidFill>
                <a:srgbClr val="38761D"/>
              </a:solidFill>
              <a:highlight>
                <a:schemeClr val="dk1"/>
              </a:highlight>
            </a:endParaRPr>
          </a:p>
          <a:p>
            <a:pPr marL="0" lvl="0" indent="0" algn="l" rtl="0">
              <a:spcBef>
                <a:spcPts val="0"/>
              </a:spcBef>
              <a:spcAft>
                <a:spcPts val="0"/>
              </a:spcAft>
              <a:buNone/>
            </a:pPr>
            <a:endParaRPr sz="1966" b="1">
              <a:solidFill>
                <a:srgbClr val="38761D"/>
              </a:solidFill>
              <a:highlight>
                <a:schemeClr val="dk1"/>
              </a:highlight>
            </a:endParaRPr>
          </a:p>
          <a:p>
            <a:pPr marL="0" lvl="0" indent="0" algn="l" rtl="0">
              <a:spcBef>
                <a:spcPts val="0"/>
              </a:spcBef>
              <a:spcAft>
                <a:spcPts val="0"/>
              </a:spcAft>
              <a:buNone/>
            </a:pPr>
            <a:endParaRPr sz="1966" b="1">
              <a:solidFill>
                <a:srgbClr val="38761D"/>
              </a:solidFill>
              <a:highlight>
                <a:schemeClr val="dk1"/>
              </a:highlight>
            </a:endParaRPr>
          </a:p>
          <a:p>
            <a:pPr marL="0" lvl="0" indent="0" algn="l" rtl="0">
              <a:spcBef>
                <a:spcPts val="0"/>
              </a:spcBef>
              <a:spcAft>
                <a:spcPts val="0"/>
              </a:spcAft>
              <a:buNone/>
            </a:pPr>
            <a:r>
              <a:rPr lang="en" sz="2266" b="1">
                <a:solidFill>
                  <a:srgbClr val="38761D"/>
                </a:solidFill>
                <a:highlight>
                  <a:schemeClr val="dk1"/>
                </a:highlight>
              </a:rPr>
              <a:t>More about npm and npx:</a:t>
            </a:r>
            <a:br>
              <a:rPr lang="en" sz="1966" b="1">
                <a:solidFill>
                  <a:srgbClr val="38761D"/>
                </a:solidFill>
                <a:highlight>
                  <a:schemeClr val="dk1"/>
                </a:highlight>
              </a:rPr>
            </a:br>
            <a:r>
              <a:rPr lang="en" sz="1900" u="sng">
                <a:solidFill>
                  <a:schemeClr val="hlink"/>
                </a:solidFill>
                <a:latin typeface="Arial"/>
                <a:ea typeface="Arial"/>
                <a:cs typeface="Arial"/>
                <a:sym typeface="Arial"/>
                <a:hlinkClick r:id="rId3"/>
              </a:rPr>
              <a:t>What are the differences between npm and npx ? - GeeksforGeeks</a:t>
            </a:r>
            <a:endParaRPr sz="2766" b="1">
              <a:solidFill>
                <a:srgbClr val="38761D"/>
              </a:solidFill>
              <a:highlight>
                <a:schemeClr val="dk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ctrTitle"/>
          </p:nvPr>
        </p:nvSpPr>
        <p:spPr>
          <a:xfrm>
            <a:off x="1294100" y="1775850"/>
            <a:ext cx="6493800" cy="170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b="1">
                <a:solidFill>
                  <a:srgbClr val="000000"/>
                </a:solidFill>
              </a:rPr>
              <a:t>End Of Chapter 1</a:t>
            </a:r>
            <a:endParaRPr sz="6000" b="1">
              <a:solidFill>
                <a:srgbClr val="000000"/>
              </a:solidFill>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416</Words>
  <Application>Microsoft Office PowerPoint</Application>
  <PresentationFormat>On-screen Show (16:9)</PresentationFormat>
  <Paragraphs>30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Nunito</vt:lpstr>
      <vt:lpstr>Calibri</vt:lpstr>
      <vt:lpstr>Shift</vt:lpstr>
      <vt:lpstr>Beginning React</vt:lpstr>
      <vt:lpstr>Chapter 1: Introduction  Brief Summary of Chapter 1 What is React What is a Component Setting up React Creating Your First React Project</vt:lpstr>
      <vt:lpstr>What is React?  React, created by Facebook, is a framework for building Single Page Applications (SPAs). Unlike traditional websites that reload HTML pages from the server with each click, SPAs load a single HTML page and use JavaScript to dynamically update the content. This approach reduces server requests and enhances speed by updating the view directly on the client side, making navigation feel faster and smoother. Examples include Facebook's newsfeed, Instagram, and Twitter, where content updates without needing to reload or navigate to new pages.</vt:lpstr>
      <vt:lpstr>Manipulating DOM Elements Efficiently  Updating views in Single Page Applications (SPAs) can be slow due to complex and costly DOM operations. React addresses this by using a virtual DOM. Instead of directly manipulating the browser’s DOM, React updates a virtual DOM made of JavaScript objects, which is faster. React then efficiently synchronizes these changes with the actual browser DOM, enhancing performance and speeding up the user experience.</vt:lpstr>
      <vt:lpstr>What is a Component  A React app is built from components, each with its own JSX template for rendering HTML, as well as its own data and logic. Components can be nested, allowing complex UIs to be made from smaller, reusable parts. For example, a products component might include several product components, each with its own rating component.</vt:lpstr>
      <vt:lpstr>Setting up React NB! Only install node if you are not making use of the latest version.  Installing Create-React-App create-react-app is the easiest way to start a new React single-page application. It sets up your development environment with the latest JavaScript features and optimizations. This Command Line Interface tool simplifies tasks like creating projects, adding files, and handling testing, bundling, and deployment, using tools like Babel and Webpack without manual configuration.   To install ‘create-react-app’ from the command line, run the following: npm install -g create-react-app</vt:lpstr>
      <vt:lpstr>Creating your First React Project  You can make use of both npx and npm to create your project.  npx create-react-app Project_Name   More about npm and npx: What are the differences between npm and npx ? - GeeksforGeeks</vt:lpstr>
      <vt:lpstr>End Of Chapter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Beginning React</dc:title>
  <cp:lastModifiedBy>ST MARY'S P/S</cp:lastModifiedBy>
  <cp:revision>2</cp:revision>
  <dcterms:modified xsi:type="dcterms:W3CDTF">2025-10-09T11:26:33Z</dcterms:modified>
</cp:coreProperties>
</file>