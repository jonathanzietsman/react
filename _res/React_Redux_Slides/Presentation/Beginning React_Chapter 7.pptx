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Nunit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italic.fntdata"/><Relationship Id="rId14" Type="http://schemas.openxmlformats.org/officeDocument/2006/relationships/font" Target="fonts/Nunito-bold.fntdata"/><Relationship Id="rId16"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f28945116d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f28945116d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f28945116d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f28945116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f28945116d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f28945116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f28945116d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f28945116d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f28945116d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f28945116d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f28945116d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f28945116d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176599" y="1844400"/>
            <a:ext cx="6445800" cy="1454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rgbClr val="000000"/>
                </a:solidFill>
              </a:rPr>
              <a:t>Beginning React</a:t>
            </a:r>
            <a:endParaRPr b="1" sz="60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4"/>
          <p:cNvSpPr txBox="1"/>
          <p:nvPr>
            <p:ph type="title"/>
          </p:nvPr>
        </p:nvSpPr>
        <p:spPr>
          <a:xfrm>
            <a:off x="448025" y="297950"/>
            <a:ext cx="8329800" cy="391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Chapter 7</a:t>
            </a:r>
            <a:endParaRPr b="1">
              <a:solidFill>
                <a:srgbClr val="38761D"/>
              </a:solidFill>
            </a:endParaRPr>
          </a:p>
          <a:p>
            <a:pPr indent="0" lvl="0" marL="0" rtl="0" algn="ctr">
              <a:spcBef>
                <a:spcPts val="0"/>
              </a:spcBef>
              <a:spcAft>
                <a:spcPts val="0"/>
              </a:spcAft>
              <a:buNone/>
            </a:pPr>
            <a:r>
              <a:rPr b="1" lang="en" sz="2600">
                <a:solidFill>
                  <a:srgbClr val="38761D"/>
                </a:solidFill>
              </a:rPr>
              <a:t>GETTING DATA FROM RESTFUL APIS WITH AXIOS</a:t>
            </a:r>
            <a:endParaRPr b="1" sz="2600">
              <a:solidFill>
                <a:srgbClr val="38761D"/>
              </a:solidFill>
            </a:endParaRPr>
          </a:p>
          <a:p>
            <a:pPr indent="0" lvl="0" marL="0" rtl="0" algn="l">
              <a:spcBef>
                <a:spcPts val="0"/>
              </a:spcBef>
              <a:spcAft>
                <a:spcPts val="0"/>
              </a:spcAft>
              <a:buNone/>
            </a:pPr>
            <a:r>
              <a:t/>
            </a:r>
            <a:endParaRPr b="1" sz="2111">
              <a:solidFill>
                <a:srgbClr val="000000"/>
              </a:solidFill>
            </a:endParaRPr>
          </a:p>
          <a:p>
            <a:pPr indent="0" lvl="0" marL="0" rtl="0" algn="l">
              <a:spcBef>
                <a:spcPts val="0"/>
              </a:spcBef>
              <a:spcAft>
                <a:spcPts val="0"/>
              </a:spcAft>
              <a:buNone/>
            </a:pPr>
            <a:r>
              <a:rPr b="1" lang="en">
                <a:solidFill>
                  <a:srgbClr val="000000"/>
                </a:solidFill>
              </a:rPr>
              <a:t>Brief Summary of Chapter 10</a:t>
            </a:r>
            <a:endParaRPr b="1">
              <a:solidFill>
                <a:srgbClr val="000000"/>
              </a:solidFill>
            </a:endParaRPr>
          </a:p>
          <a:p>
            <a:pPr indent="-387350" lvl="0" marL="457200" rtl="0" algn="l">
              <a:spcBef>
                <a:spcPts val="0"/>
              </a:spcBef>
              <a:spcAft>
                <a:spcPts val="0"/>
              </a:spcAft>
              <a:buClr>
                <a:srgbClr val="000000"/>
              </a:buClr>
              <a:buSzPts val="2500"/>
              <a:buChar char="●"/>
            </a:pPr>
            <a:r>
              <a:rPr lang="en" sz="2500">
                <a:solidFill>
                  <a:srgbClr val="000000"/>
                </a:solidFill>
              </a:rPr>
              <a:t>What is Restful Api</a:t>
            </a:r>
            <a:endParaRPr sz="2500">
              <a:solidFill>
                <a:srgbClr val="000000"/>
              </a:solidFill>
            </a:endParaRPr>
          </a:p>
          <a:p>
            <a:pPr indent="-387350" lvl="0" marL="457200" rtl="0" algn="l">
              <a:spcBef>
                <a:spcPts val="0"/>
              </a:spcBef>
              <a:spcAft>
                <a:spcPts val="0"/>
              </a:spcAft>
              <a:buClr>
                <a:srgbClr val="000000"/>
              </a:buClr>
              <a:buSzPts val="2500"/>
              <a:buChar char="●"/>
            </a:pPr>
            <a:r>
              <a:rPr lang="en" sz="2500">
                <a:solidFill>
                  <a:srgbClr val="000000"/>
                </a:solidFill>
              </a:rPr>
              <a:t>Using axios And Promises</a:t>
            </a:r>
            <a:endParaRPr sz="2500">
              <a:solidFill>
                <a:srgbClr val="000000"/>
              </a:solidFill>
            </a:endParaRPr>
          </a:p>
          <a:p>
            <a:pPr indent="-387350" lvl="0" marL="457200" rtl="0" algn="l">
              <a:spcBef>
                <a:spcPts val="0"/>
              </a:spcBef>
              <a:spcAft>
                <a:spcPts val="0"/>
              </a:spcAft>
              <a:buClr>
                <a:srgbClr val="000000"/>
              </a:buClr>
              <a:buSzPts val="2500"/>
              <a:buChar char="●"/>
            </a:pPr>
            <a:r>
              <a:rPr lang="en" sz="2500">
                <a:solidFill>
                  <a:srgbClr val="000000"/>
                </a:solidFill>
              </a:rPr>
              <a:t>Life Cycle componentDidMount</a:t>
            </a:r>
            <a:endParaRPr sz="25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5"/>
          <p:cNvSpPr txBox="1"/>
          <p:nvPr>
            <p:ph type="title"/>
          </p:nvPr>
        </p:nvSpPr>
        <p:spPr>
          <a:xfrm>
            <a:off x="494100" y="635050"/>
            <a:ext cx="8242800" cy="339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What is Restful API?</a:t>
            </a:r>
            <a:endParaRPr b="1">
              <a:solidFill>
                <a:srgbClr val="38761D"/>
              </a:solidFill>
            </a:endParaRPr>
          </a:p>
          <a:p>
            <a:pPr indent="0" lvl="0" marL="0" rtl="0" algn="l">
              <a:spcBef>
                <a:spcPts val="0"/>
              </a:spcBef>
              <a:spcAft>
                <a:spcPts val="0"/>
              </a:spcAft>
              <a:buNone/>
            </a:pPr>
            <a:r>
              <a:t/>
            </a:r>
            <a:endParaRPr b="1" sz="2111">
              <a:solidFill>
                <a:srgbClr val="000000"/>
              </a:solidFill>
            </a:endParaRPr>
          </a:p>
          <a:p>
            <a:pPr indent="0" lvl="0" marL="0" rtl="0" algn="l">
              <a:spcBef>
                <a:spcPts val="0"/>
              </a:spcBef>
              <a:spcAft>
                <a:spcPts val="0"/>
              </a:spcAft>
              <a:buNone/>
            </a:pPr>
            <a:r>
              <a:rPr b="1" lang="en" sz="1900">
                <a:solidFill>
                  <a:srgbClr val="000000"/>
                </a:solidFill>
              </a:rPr>
              <a:t>A RESTful API (Representational State Transfer API) is a way for different software systems to communicate over the internet. It uses standard HTTP methods like GET, POST, PUT, and DELETE to perform operations on resources, which are typically represented as URLs. RESTful APIs are designed to be stateless, meaning each request from a client to a server must contain all the information needed to understand and process the request, independent of previous requests. This makes them scalable and easy to use.</a:t>
            </a:r>
            <a:endParaRPr b="1" sz="1900">
              <a:solidFill>
                <a:srgbClr val="38761D"/>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ph type="title"/>
          </p:nvPr>
        </p:nvSpPr>
        <p:spPr>
          <a:xfrm>
            <a:off x="864600" y="1117450"/>
            <a:ext cx="7284300" cy="2508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Using Axios</a:t>
            </a:r>
            <a:endParaRPr b="1">
              <a:solidFill>
                <a:srgbClr val="38761D"/>
              </a:solidFill>
            </a:endParaRPr>
          </a:p>
          <a:p>
            <a:pPr indent="0" lvl="0" marL="0" rtl="0" algn="l">
              <a:spcBef>
                <a:spcPts val="0"/>
              </a:spcBef>
              <a:spcAft>
                <a:spcPts val="0"/>
              </a:spcAft>
              <a:buNone/>
            </a:pPr>
            <a:r>
              <a:t/>
            </a:r>
            <a:endParaRPr b="1" sz="1500">
              <a:solidFill>
                <a:srgbClr val="38761D"/>
              </a:solidFill>
            </a:endParaRPr>
          </a:p>
          <a:p>
            <a:pPr indent="0" lvl="0" marL="0" rtl="0" algn="l">
              <a:spcBef>
                <a:spcPts val="0"/>
              </a:spcBef>
              <a:spcAft>
                <a:spcPts val="0"/>
              </a:spcAft>
              <a:buNone/>
            </a:pPr>
            <a:r>
              <a:rPr b="1" lang="en" sz="1933">
                <a:solidFill>
                  <a:srgbClr val="000000"/>
                </a:solidFill>
              </a:rPr>
              <a:t>In React, Axios is used for making HTTP requests due to its easy-to-use API, promise-based handling, and features like automatic JSON parsing and request/response interceptors. It simplifies data fetching and error management, making it a popular choice for integrating APIs into React applications.</a:t>
            </a:r>
            <a:endParaRPr b="1" sz="1933">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txBox="1"/>
          <p:nvPr>
            <p:ph type="title"/>
          </p:nvPr>
        </p:nvSpPr>
        <p:spPr>
          <a:xfrm>
            <a:off x="404525" y="374075"/>
            <a:ext cx="8340600" cy="4382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sz="3333">
                <a:solidFill>
                  <a:srgbClr val="38761D"/>
                </a:solidFill>
              </a:rPr>
              <a:t>Using Promises</a:t>
            </a:r>
            <a:endParaRPr b="1" sz="3333">
              <a:solidFill>
                <a:srgbClr val="38761D"/>
              </a:solidFill>
            </a:endParaRPr>
          </a:p>
          <a:p>
            <a:pPr indent="0" lvl="0" marL="0" rtl="0" algn="l">
              <a:spcBef>
                <a:spcPts val="0"/>
              </a:spcBef>
              <a:spcAft>
                <a:spcPts val="0"/>
              </a:spcAft>
              <a:buNone/>
            </a:pPr>
            <a:r>
              <a:t/>
            </a:r>
            <a:endParaRPr b="1" sz="1677">
              <a:solidFill>
                <a:srgbClr val="38761D"/>
              </a:solidFill>
            </a:endParaRPr>
          </a:p>
          <a:p>
            <a:pPr indent="0" lvl="0" marL="0" rtl="0" algn="l">
              <a:spcBef>
                <a:spcPts val="0"/>
              </a:spcBef>
              <a:spcAft>
                <a:spcPts val="0"/>
              </a:spcAft>
              <a:buNone/>
            </a:pPr>
            <a:r>
              <a:rPr b="1" lang="en" sz="2122">
                <a:solidFill>
                  <a:srgbClr val="000000"/>
                </a:solidFill>
              </a:rPr>
              <a:t>In React, a promise is often used to manage asynchronous operations such as data fetching from APIs. When you make an HTTP request with a library like Axios, it returns a promise. This promise represents the eventual result of the request, allowing you to handle data and errors in a structured way.</a:t>
            </a:r>
            <a:endParaRPr b="1" sz="2122">
              <a:solidFill>
                <a:srgbClr val="000000"/>
              </a:solidFill>
            </a:endParaRPr>
          </a:p>
          <a:p>
            <a:pPr indent="0" lvl="0" marL="0" rtl="0" algn="l">
              <a:spcBef>
                <a:spcPts val="0"/>
              </a:spcBef>
              <a:spcAft>
                <a:spcPts val="0"/>
              </a:spcAft>
              <a:buNone/>
            </a:pPr>
            <a:r>
              <a:t/>
            </a:r>
            <a:endParaRPr b="1" sz="1566">
              <a:solidFill>
                <a:srgbClr val="000000"/>
              </a:solidFill>
            </a:endParaRPr>
          </a:p>
          <a:p>
            <a:pPr indent="0" lvl="0" marL="0" rtl="0" algn="l">
              <a:spcBef>
                <a:spcPts val="0"/>
              </a:spcBef>
              <a:spcAft>
                <a:spcPts val="0"/>
              </a:spcAft>
              <a:buNone/>
            </a:pPr>
            <a:r>
              <a:rPr b="1" lang="en" sz="2122">
                <a:solidFill>
                  <a:srgbClr val="000000"/>
                </a:solidFill>
              </a:rPr>
              <a:t>You use .then() to process the data if the request is successful and .catch() to handle any errors. This approach makes it easier to integrate asynchronous operations into your React components, helping you manage state and UI updates effectively. For example, you can use async/await syntax to write more readable asynchronous code within React's lifecycle methods or hooks.</a:t>
            </a:r>
            <a:endParaRPr b="1" sz="2122">
              <a:solidFill>
                <a:srgbClr val="000000"/>
              </a:solidFill>
            </a:endParaRPr>
          </a:p>
          <a:p>
            <a:pPr indent="0" lvl="0" marL="0" rtl="0" algn="l">
              <a:spcBef>
                <a:spcPts val="0"/>
              </a:spcBef>
              <a:spcAft>
                <a:spcPts val="0"/>
              </a:spcAft>
              <a:buNone/>
            </a:pPr>
            <a:r>
              <a:t/>
            </a:r>
            <a:endParaRPr b="1" sz="1900">
              <a:solidFill>
                <a:srgbClr val="38761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8"/>
          <p:cNvSpPr txBox="1"/>
          <p:nvPr>
            <p:ph type="title"/>
          </p:nvPr>
        </p:nvSpPr>
        <p:spPr>
          <a:xfrm>
            <a:off x="567625" y="330575"/>
            <a:ext cx="8101200" cy="4208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38761D"/>
                </a:solidFill>
              </a:rPr>
              <a:t>Life Cycle componentDidMount</a:t>
            </a:r>
            <a:endParaRPr b="1">
              <a:solidFill>
                <a:srgbClr val="38761D"/>
              </a:solidFill>
            </a:endParaRPr>
          </a:p>
          <a:p>
            <a:pPr indent="0" lvl="0" marL="0" rtl="0" algn="l">
              <a:spcBef>
                <a:spcPts val="0"/>
              </a:spcBef>
              <a:spcAft>
                <a:spcPts val="0"/>
              </a:spcAft>
              <a:buNone/>
            </a:pPr>
            <a:r>
              <a:t/>
            </a:r>
            <a:endParaRPr b="1" sz="1900">
              <a:solidFill>
                <a:srgbClr val="38761D"/>
              </a:solidFill>
            </a:endParaRPr>
          </a:p>
          <a:p>
            <a:pPr indent="0" lvl="0" marL="0" rtl="0" algn="l">
              <a:spcBef>
                <a:spcPts val="0"/>
              </a:spcBef>
              <a:spcAft>
                <a:spcPts val="0"/>
              </a:spcAft>
              <a:buNone/>
            </a:pPr>
            <a:r>
              <a:rPr b="1" lang="en" sz="1922">
                <a:solidFill>
                  <a:srgbClr val="000000"/>
                </a:solidFill>
              </a:rPr>
              <a:t>In React, components have a lifecycle managed by React with hooks like constructor(props), render(), and componentDidMount(). The constructor initializes state and is called before mounting, while componentDidMount() is called after the first render. This method is ideal for performing tasks such as fetching data from an API, setting up subscriptions, or initiating any side effects that require the component to be fully rendered in the DOM.</a:t>
            </a:r>
            <a:endParaRPr b="1" sz="1922">
              <a:solidFill>
                <a:srgbClr val="000000"/>
              </a:solidFill>
            </a:endParaRPr>
          </a:p>
          <a:p>
            <a:pPr indent="0" lvl="0" marL="0" rtl="0" algn="l">
              <a:spcBef>
                <a:spcPts val="0"/>
              </a:spcBef>
              <a:spcAft>
                <a:spcPts val="0"/>
              </a:spcAft>
              <a:buNone/>
            </a:pPr>
            <a:r>
              <a:t/>
            </a:r>
            <a:endParaRPr b="1" sz="1922">
              <a:solidFill>
                <a:srgbClr val="000000"/>
              </a:solidFill>
            </a:endParaRPr>
          </a:p>
          <a:p>
            <a:pPr indent="0" lvl="0" marL="0" rtl="0" algn="l">
              <a:spcBef>
                <a:spcPts val="0"/>
              </a:spcBef>
              <a:spcAft>
                <a:spcPts val="0"/>
              </a:spcAft>
              <a:buNone/>
            </a:pPr>
            <a:r>
              <a:t/>
            </a:r>
            <a:endParaRPr b="1" sz="1922">
              <a:solidFill>
                <a:srgbClr val="000000"/>
              </a:solidFill>
            </a:endParaRPr>
          </a:p>
          <a:p>
            <a:pPr indent="0" lvl="0" marL="0" rtl="0" algn="l">
              <a:spcBef>
                <a:spcPts val="0"/>
              </a:spcBef>
              <a:spcAft>
                <a:spcPts val="0"/>
              </a:spcAft>
              <a:buNone/>
            </a:pPr>
            <a:r>
              <a:rPr b="1" lang="en" sz="2622">
                <a:solidFill>
                  <a:srgbClr val="38761D"/>
                </a:solidFill>
              </a:rPr>
              <a:t>NB! Replace Media with Card</a:t>
            </a:r>
            <a:endParaRPr b="1" sz="2622">
              <a:solidFill>
                <a:srgbClr val="38761D"/>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9"/>
          <p:cNvSpPr txBox="1"/>
          <p:nvPr>
            <p:ph type="ctrTitle"/>
          </p:nvPr>
        </p:nvSpPr>
        <p:spPr>
          <a:xfrm>
            <a:off x="1209200" y="1822825"/>
            <a:ext cx="7002900" cy="1465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rgbClr val="000000"/>
                </a:solidFill>
              </a:rPr>
              <a:t>End of Chapter 7</a:t>
            </a:r>
            <a:endParaRPr b="1" sz="60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