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unito"/>
      <p:regular r:id="rId12"/>
      <p:bold r:id="rId13"/>
      <p:italic r:id="rId14"/>
      <p:boldItalic r:id="rId15"/>
    </p:embeddedFont>
    <p:embeddedFont>
      <p:font typeface="Roboto Mon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bold.fntdata"/><Relationship Id="rId12" Type="http://schemas.openxmlformats.org/officeDocument/2006/relationships/font" Target="fonts/Nuni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Italic.fntdata"/><Relationship Id="rId14" Type="http://schemas.openxmlformats.org/officeDocument/2006/relationships/font" Target="fonts/Nunito-italic.fntdata"/><Relationship Id="rId17" Type="http://schemas.openxmlformats.org/officeDocument/2006/relationships/font" Target="fonts/RobotoMono-bold.fntdata"/><Relationship Id="rId16" Type="http://schemas.openxmlformats.org/officeDocument/2006/relationships/font" Target="fonts/RobotoMono-regular.fntdata"/><Relationship Id="rId5" Type="http://schemas.openxmlformats.org/officeDocument/2006/relationships/notesMaster" Target="notesMasters/notesMaster1.xml"/><Relationship Id="rId19" Type="http://schemas.openxmlformats.org/officeDocument/2006/relationships/font" Target="fonts/RobotoMono-boldItalic.fntdata"/><Relationship Id="rId6" Type="http://schemas.openxmlformats.org/officeDocument/2006/relationships/slide" Target="slides/slide1.xml"/><Relationship Id="rId18"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f29a0c5503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f29a0c5503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f29a0c550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f29a0c550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f29a0c5503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f29a0c5503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29a0c5503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29a0c5503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f29a0c5503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f29a0c5503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143975" y="1822825"/>
            <a:ext cx="6959400" cy="1476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Beginning React</a:t>
            </a:r>
            <a:endParaRPr b="1" sz="60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491525" y="454125"/>
            <a:ext cx="8068800" cy="3454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Chapter 3</a:t>
            </a:r>
            <a:endParaRPr b="1">
              <a:solidFill>
                <a:srgbClr val="38761D"/>
              </a:solidFill>
            </a:endParaRPr>
          </a:p>
          <a:p>
            <a:pPr indent="0" lvl="0" marL="0" rtl="0" algn="ctr">
              <a:spcBef>
                <a:spcPts val="0"/>
              </a:spcBef>
              <a:spcAft>
                <a:spcPts val="0"/>
              </a:spcAft>
              <a:buNone/>
            </a:pPr>
            <a:r>
              <a:rPr b="1" lang="en">
                <a:solidFill>
                  <a:srgbClr val="38761D"/>
                </a:solidFill>
              </a:rPr>
              <a:t>Binding, Props, State and Events</a:t>
            </a:r>
            <a:endParaRPr b="1">
              <a:solidFill>
                <a:srgbClr val="38761D"/>
              </a:solidFill>
            </a:endParaRPr>
          </a:p>
          <a:p>
            <a:pPr indent="0" lvl="0" marL="0" rtl="0" algn="l">
              <a:spcBef>
                <a:spcPts val="0"/>
              </a:spcBef>
              <a:spcAft>
                <a:spcPts val="0"/>
              </a:spcAft>
              <a:buNone/>
            </a:pPr>
            <a:r>
              <a:t/>
            </a:r>
            <a:endParaRPr b="1">
              <a:solidFill>
                <a:srgbClr val="38761D"/>
              </a:solidFill>
            </a:endParaRPr>
          </a:p>
          <a:p>
            <a:pPr indent="0" lvl="0" marL="0" rtl="0" algn="l">
              <a:spcBef>
                <a:spcPts val="0"/>
              </a:spcBef>
              <a:spcAft>
                <a:spcPts val="0"/>
              </a:spcAft>
              <a:buNone/>
            </a:pPr>
            <a:r>
              <a:rPr b="1" lang="en">
                <a:solidFill>
                  <a:srgbClr val="000000"/>
                </a:solidFill>
              </a:rPr>
              <a:t>Brief Summary Of Chapter 3</a:t>
            </a:r>
            <a:endParaRPr b="1">
              <a:solidFill>
                <a:srgbClr val="000000"/>
              </a:solidFill>
            </a:endParaRPr>
          </a:p>
          <a:p>
            <a:pPr indent="-387350" lvl="0" marL="457200" rtl="0" algn="l">
              <a:spcBef>
                <a:spcPts val="0"/>
              </a:spcBef>
              <a:spcAft>
                <a:spcPts val="0"/>
              </a:spcAft>
              <a:buClr>
                <a:srgbClr val="000000"/>
              </a:buClr>
              <a:buSzPts val="2500"/>
              <a:buChar char="●"/>
            </a:pPr>
            <a:r>
              <a:rPr lang="en" sz="2500">
                <a:solidFill>
                  <a:srgbClr val="000000"/>
                </a:solidFill>
              </a:rPr>
              <a:t>What is Binding</a:t>
            </a:r>
            <a:endParaRPr sz="2500">
              <a:solidFill>
                <a:srgbClr val="000000"/>
              </a:solidFill>
            </a:endParaRPr>
          </a:p>
          <a:p>
            <a:pPr indent="-387350" lvl="0" marL="457200" rtl="0" algn="l">
              <a:spcBef>
                <a:spcPts val="0"/>
              </a:spcBef>
              <a:spcAft>
                <a:spcPts val="0"/>
              </a:spcAft>
              <a:buClr>
                <a:srgbClr val="000000"/>
              </a:buClr>
              <a:buSzPts val="2500"/>
              <a:buChar char="●"/>
            </a:pPr>
            <a:r>
              <a:rPr lang="en" sz="2500">
                <a:solidFill>
                  <a:srgbClr val="000000"/>
                </a:solidFill>
              </a:rPr>
              <a:t>What are Props</a:t>
            </a:r>
            <a:endParaRPr sz="2500">
              <a:solidFill>
                <a:srgbClr val="000000"/>
              </a:solidFill>
            </a:endParaRPr>
          </a:p>
          <a:p>
            <a:pPr indent="-387350" lvl="0" marL="457200" rtl="0" algn="l">
              <a:spcBef>
                <a:spcPts val="0"/>
              </a:spcBef>
              <a:spcAft>
                <a:spcPts val="0"/>
              </a:spcAft>
              <a:buClr>
                <a:srgbClr val="000000"/>
              </a:buClr>
              <a:buSzPts val="2500"/>
              <a:buChar char="●"/>
            </a:pPr>
            <a:r>
              <a:rPr lang="en" sz="2500">
                <a:solidFill>
                  <a:srgbClr val="000000"/>
                </a:solidFill>
              </a:rPr>
              <a:t>What is a State and an Event</a:t>
            </a:r>
            <a:endParaRPr sz="25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type="title"/>
          </p:nvPr>
        </p:nvSpPr>
        <p:spPr>
          <a:xfrm>
            <a:off x="458900" y="602425"/>
            <a:ext cx="8253600" cy="394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3333">
                <a:solidFill>
                  <a:srgbClr val="38761D"/>
                </a:solidFill>
              </a:rPr>
              <a:t>What is Binding</a:t>
            </a:r>
            <a:endParaRPr b="1" sz="3333">
              <a:solidFill>
                <a:srgbClr val="38761D"/>
              </a:solidFill>
            </a:endParaRPr>
          </a:p>
          <a:p>
            <a:pPr indent="0" lvl="0" marL="0" rtl="0" algn="l">
              <a:spcBef>
                <a:spcPts val="0"/>
              </a:spcBef>
              <a:spcAft>
                <a:spcPts val="0"/>
              </a:spcAft>
              <a:buNone/>
            </a:pPr>
            <a:r>
              <a:t/>
            </a:r>
            <a:endParaRPr b="1" sz="1300">
              <a:solidFill>
                <a:srgbClr val="38761D"/>
              </a:solidFill>
            </a:endParaRPr>
          </a:p>
          <a:p>
            <a:pPr indent="0" lvl="0" marL="0" rtl="0" algn="l">
              <a:spcBef>
                <a:spcPts val="0"/>
              </a:spcBef>
              <a:spcAft>
                <a:spcPts val="0"/>
              </a:spcAft>
              <a:buNone/>
            </a:pPr>
            <a:r>
              <a:rPr b="1" lang="en" sz="2122">
                <a:solidFill>
                  <a:srgbClr val="000000"/>
                </a:solidFill>
                <a:latin typeface="Arial"/>
                <a:ea typeface="Arial"/>
                <a:cs typeface="Arial"/>
                <a:sym typeface="Arial"/>
              </a:rPr>
              <a:t>In React, </a:t>
            </a:r>
            <a:r>
              <a:rPr b="1" lang="en" sz="2122">
                <a:solidFill>
                  <a:srgbClr val="38761D"/>
                </a:solidFill>
                <a:latin typeface="Arial"/>
                <a:ea typeface="Arial"/>
                <a:cs typeface="Arial"/>
                <a:sym typeface="Arial"/>
              </a:rPr>
              <a:t>binding </a:t>
            </a:r>
            <a:r>
              <a:rPr b="1" lang="en" sz="2122">
                <a:solidFill>
                  <a:srgbClr val="000000"/>
                </a:solidFill>
                <a:latin typeface="Arial"/>
                <a:ea typeface="Arial"/>
                <a:cs typeface="Arial"/>
                <a:sym typeface="Arial"/>
              </a:rPr>
              <a:t>can be understood as linking a component’s methods to its instance. This process creates a connection between the methods and the component, ensuring that when the methods are called, they correctly refer to the component’s </a:t>
            </a:r>
            <a:r>
              <a:rPr b="1" lang="en" sz="2122">
                <a:solidFill>
                  <a:srgbClr val="000000"/>
                </a:solidFill>
                <a:latin typeface="Roboto Mono"/>
                <a:ea typeface="Roboto Mono"/>
                <a:cs typeface="Roboto Mono"/>
                <a:sym typeface="Roboto Mono"/>
              </a:rPr>
              <a:t>this</a:t>
            </a:r>
            <a:r>
              <a:rPr b="1" lang="en" sz="2122">
                <a:solidFill>
                  <a:srgbClr val="000000"/>
                </a:solidFill>
                <a:latin typeface="Arial"/>
                <a:ea typeface="Arial"/>
                <a:cs typeface="Arial"/>
                <a:sym typeface="Arial"/>
              </a:rPr>
              <a:t> context. Binding is essential for methods that interact with the component’s state or props, such as event handlers. Without binding, these methods might not have the correct </a:t>
            </a:r>
            <a:r>
              <a:rPr b="1" lang="en" sz="2122">
                <a:solidFill>
                  <a:srgbClr val="000000"/>
                </a:solidFill>
                <a:latin typeface="Roboto Mono"/>
                <a:ea typeface="Roboto Mono"/>
                <a:cs typeface="Roboto Mono"/>
                <a:sym typeface="Roboto Mono"/>
              </a:rPr>
              <a:t>this</a:t>
            </a:r>
            <a:r>
              <a:rPr b="1" lang="en" sz="2122">
                <a:solidFill>
                  <a:srgbClr val="000000"/>
                </a:solidFill>
                <a:latin typeface="Arial"/>
                <a:ea typeface="Arial"/>
                <a:cs typeface="Arial"/>
                <a:sym typeface="Arial"/>
              </a:rPr>
              <a:t> context, leading to errors. By linking methods to the component, binding ensures they maintain proper access to the component's data and context, enabling them to function correctly.</a:t>
            </a:r>
            <a:endParaRPr b="1" sz="2922">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title"/>
          </p:nvPr>
        </p:nvSpPr>
        <p:spPr>
          <a:xfrm>
            <a:off x="545875" y="515425"/>
            <a:ext cx="7938300" cy="3490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What are Props?</a:t>
            </a:r>
            <a:endParaRPr b="1">
              <a:solidFill>
                <a:srgbClr val="38761D"/>
              </a:solidFill>
            </a:endParaRPr>
          </a:p>
          <a:p>
            <a:pPr indent="0" lvl="0" marL="0" rtl="0" algn="l">
              <a:spcBef>
                <a:spcPts val="0"/>
              </a:spcBef>
              <a:spcAft>
                <a:spcPts val="0"/>
              </a:spcAft>
              <a:buNone/>
            </a:pPr>
            <a:r>
              <a:t/>
            </a:r>
            <a:endParaRPr b="1" sz="1300">
              <a:solidFill>
                <a:srgbClr val="188038"/>
              </a:solidFill>
            </a:endParaRPr>
          </a:p>
          <a:p>
            <a:pPr indent="0" lvl="0" marL="0" rtl="0" algn="l">
              <a:spcBef>
                <a:spcPts val="0"/>
              </a:spcBef>
              <a:spcAft>
                <a:spcPts val="0"/>
              </a:spcAft>
              <a:buNone/>
            </a:pPr>
            <a:r>
              <a:rPr b="1" lang="en" sz="1900">
                <a:solidFill>
                  <a:srgbClr val="000000"/>
                </a:solidFill>
              </a:rPr>
              <a:t>In React, props (short for properties) are used to pass data and functions from a parent component to a child component, facilitating communication and data sharing within the component hierarchy. They enable component reusability by allowing components to display different content or behave differently based on the data they receive. Props help configure components dynamically, maintain a modular and maintainable codebase, and ensure a clear separation of concerns by defining what data or functions a component needs from its parent.</a:t>
            </a:r>
            <a:endParaRPr b="1" sz="19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274025" y="330575"/>
            <a:ext cx="8601600" cy="4469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What is a State and an Event</a:t>
            </a:r>
            <a:endParaRPr b="1">
              <a:solidFill>
                <a:srgbClr val="38761D"/>
              </a:solidFill>
            </a:endParaRPr>
          </a:p>
          <a:p>
            <a:pPr indent="0" lvl="0" marL="0" rtl="0" algn="l">
              <a:spcBef>
                <a:spcPts val="0"/>
              </a:spcBef>
              <a:spcAft>
                <a:spcPts val="0"/>
              </a:spcAft>
              <a:buNone/>
            </a:pPr>
            <a:r>
              <a:t/>
            </a:r>
            <a:endParaRPr b="1" sz="800">
              <a:solidFill>
                <a:srgbClr val="38761D"/>
              </a:solidFill>
            </a:endParaRPr>
          </a:p>
          <a:p>
            <a:pPr indent="0" lvl="0" marL="0" rtl="0" algn="l">
              <a:spcBef>
                <a:spcPts val="0"/>
              </a:spcBef>
              <a:spcAft>
                <a:spcPts val="0"/>
              </a:spcAft>
              <a:buNone/>
            </a:pPr>
            <a:r>
              <a:rPr b="1" lang="en" sz="2500">
                <a:solidFill>
                  <a:srgbClr val="38761D"/>
                </a:solidFill>
              </a:rPr>
              <a:t>State:</a:t>
            </a:r>
            <a:endParaRPr b="1" sz="2500">
              <a:solidFill>
                <a:srgbClr val="38761D"/>
              </a:solidFill>
            </a:endParaRPr>
          </a:p>
          <a:p>
            <a:pPr indent="0" lvl="0" marL="0" rtl="0" algn="l">
              <a:spcBef>
                <a:spcPts val="0"/>
              </a:spcBef>
              <a:spcAft>
                <a:spcPts val="0"/>
              </a:spcAft>
              <a:buNone/>
            </a:pPr>
            <a:r>
              <a:rPr b="1" lang="en" sz="1600">
                <a:solidFill>
                  <a:srgbClr val="000000"/>
                </a:solidFill>
              </a:rPr>
              <a:t>State refers to an object that holds data specific to a component and can change over time. It allows a component to maintain and update its own internal data, influencing how it renders and behaves. State is used to keep track of information that might change, such as user input, form data, or dynamic content. Changes to state trigger re-renders of the component, ensuring that the UI reflects the most current data.</a:t>
            </a:r>
            <a:endParaRPr b="1" sz="1600">
              <a:solidFill>
                <a:srgbClr val="000000"/>
              </a:solidFill>
            </a:endParaRPr>
          </a:p>
          <a:p>
            <a:pPr indent="0" lvl="0" marL="0" rtl="0" algn="l">
              <a:spcBef>
                <a:spcPts val="0"/>
              </a:spcBef>
              <a:spcAft>
                <a:spcPts val="0"/>
              </a:spcAft>
              <a:buNone/>
            </a:pPr>
            <a:r>
              <a:t/>
            </a:r>
            <a:endParaRPr b="1" sz="900">
              <a:solidFill>
                <a:srgbClr val="38761D"/>
              </a:solidFill>
            </a:endParaRPr>
          </a:p>
          <a:p>
            <a:pPr indent="0" lvl="0" marL="0" rtl="0" algn="l">
              <a:spcBef>
                <a:spcPts val="0"/>
              </a:spcBef>
              <a:spcAft>
                <a:spcPts val="0"/>
              </a:spcAft>
              <a:buNone/>
            </a:pPr>
            <a:r>
              <a:rPr b="1" lang="en" sz="2500">
                <a:solidFill>
                  <a:srgbClr val="38761D"/>
                </a:solidFill>
              </a:rPr>
              <a:t>Events:</a:t>
            </a:r>
            <a:endParaRPr b="1" sz="2500">
              <a:solidFill>
                <a:srgbClr val="38761D"/>
              </a:solidFill>
            </a:endParaRPr>
          </a:p>
          <a:p>
            <a:pPr indent="0" lvl="0" marL="0" rtl="0" algn="l">
              <a:spcBef>
                <a:spcPts val="0"/>
              </a:spcBef>
              <a:spcAft>
                <a:spcPts val="0"/>
              </a:spcAft>
              <a:buNone/>
            </a:pPr>
            <a:r>
              <a:rPr b="1" lang="en" sz="1600">
                <a:solidFill>
                  <a:srgbClr val="000000"/>
                </a:solidFill>
              </a:rPr>
              <a:t>Events are user interactions or browser actions that occur and can trigger specific responses in a component. Common events include clicks, form submissions, and keystrokes. In React, event handlers are used to manage these events and update the component’s state or perform other actions. Events are handled using functions that are typically passed as props to components or defined within the component itself, allowing for interactive and dynamic user interfaces.</a:t>
            </a:r>
            <a:endParaRPr b="1" sz="16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ctrTitle"/>
          </p:nvPr>
        </p:nvSpPr>
        <p:spPr>
          <a:xfrm>
            <a:off x="1285325" y="1822825"/>
            <a:ext cx="6437400" cy="146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End Of Chapter 3</a:t>
            </a:r>
            <a:endParaRPr b="1" sz="60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