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Nunito"/>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Nunito-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italic.fntdata"/><Relationship Id="rId14" Type="http://schemas.openxmlformats.org/officeDocument/2006/relationships/font" Target="fonts/Nunito-bold.fntdata"/><Relationship Id="rId16"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f3171f7ed7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f3171f7ed7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f3171f7ed7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f3171f7ed7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f3171f7ed7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f3171f7ed7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f3171f7ed7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f3171f7ed7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f3171f7ed7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f3171f7ed7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f3171f7ed7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f3171f7ed7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354025" y="1822825"/>
            <a:ext cx="6243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solidFill>
                  <a:srgbClr val="000000"/>
                </a:solidFill>
              </a:rPr>
              <a:t>Beginning React</a:t>
            </a:r>
            <a:endParaRPr b="1" sz="600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4"/>
          <p:cNvSpPr txBox="1"/>
          <p:nvPr>
            <p:ph type="title"/>
          </p:nvPr>
        </p:nvSpPr>
        <p:spPr>
          <a:xfrm>
            <a:off x="471950" y="565925"/>
            <a:ext cx="8064600" cy="387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38761D"/>
                </a:solidFill>
              </a:rPr>
              <a:t>Chapter 11</a:t>
            </a:r>
            <a:endParaRPr b="1">
              <a:solidFill>
                <a:srgbClr val="38761D"/>
              </a:solidFill>
            </a:endParaRPr>
          </a:p>
          <a:p>
            <a:pPr indent="0" lvl="0" marL="0" rtl="0" algn="ctr">
              <a:spcBef>
                <a:spcPts val="0"/>
              </a:spcBef>
              <a:spcAft>
                <a:spcPts val="0"/>
              </a:spcAft>
              <a:buNone/>
            </a:pPr>
            <a:r>
              <a:rPr b="1" lang="en">
                <a:solidFill>
                  <a:srgbClr val="38761D"/>
                </a:solidFill>
              </a:rPr>
              <a:t>React With Redux</a:t>
            </a:r>
            <a:endParaRPr b="1">
              <a:solidFill>
                <a:srgbClr val="38761D"/>
              </a:solidFill>
            </a:endParaRPr>
          </a:p>
          <a:p>
            <a:pPr indent="0" lvl="0" marL="0" rtl="0" algn="l">
              <a:spcBef>
                <a:spcPts val="0"/>
              </a:spcBef>
              <a:spcAft>
                <a:spcPts val="0"/>
              </a:spcAft>
              <a:buNone/>
            </a:pPr>
            <a:r>
              <a:t/>
            </a:r>
            <a:endParaRPr b="1">
              <a:solidFill>
                <a:srgbClr val="38761D"/>
              </a:solidFill>
            </a:endParaRPr>
          </a:p>
          <a:p>
            <a:pPr indent="0" lvl="0" marL="0" rtl="0" algn="l">
              <a:spcBef>
                <a:spcPts val="0"/>
              </a:spcBef>
              <a:spcAft>
                <a:spcPts val="0"/>
              </a:spcAft>
              <a:buNone/>
            </a:pPr>
            <a:r>
              <a:rPr b="1" lang="en">
                <a:solidFill>
                  <a:srgbClr val="000000"/>
                </a:solidFill>
              </a:rPr>
              <a:t>Brief Summary Of Chapter 10</a:t>
            </a:r>
            <a:endParaRPr b="1">
              <a:solidFill>
                <a:srgbClr val="000000"/>
              </a:solidFill>
            </a:endParaRPr>
          </a:p>
          <a:p>
            <a:pPr indent="-393700" lvl="0" marL="457200" rtl="0" algn="l">
              <a:spcBef>
                <a:spcPts val="0"/>
              </a:spcBef>
              <a:spcAft>
                <a:spcPts val="0"/>
              </a:spcAft>
              <a:buClr>
                <a:srgbClr val="000000"/>
              </a:buClr>
              <a:buSzPts val="2600"/>
              <a:buChar char="●"/>
            </a:pPr>
            <a:r>
              <a:rPr lang="en" sz="2600">
                <a:solidFill>
                  <a:srgbClr val="000000"/>
                </a:solidFill>
              </a:rPr>
              <a:t>What is Redux</a:t>
            </a:r>
            <a:endParaRPr sz="2600">
              <a:solidFill>
                <a:srgbClr val="000000"/>
              </a:solidFill>
            </a:endParaRPr>
          </a:p>
          <a:p>
            <a:pPr indent="-393700" lvl="0" marL="457200" rtl="0" algn="l">
              <a:spcBef>
                <a:spcPts val="0"/>
              </a:spcBef>
              <a:spcAft>
                <a:spcPts val="0"/>
              </a:spcAft>
              <a:buClr>
                <a:srgbClr val="000000"/>
              </a:buClr>
              <a:buSzPts val="2600"/>
              <a:buChar char="●"/>
            </a:pPr>
            <a:r>
              <a:rPr lang="en" sz="2600">
                <a:solidFill>
                  <a:srgbClr val="000000"/>
                </a:solidFill>
              </a:rPr>
              <a:t>React with Redux</a:t>
            </a:r>
            <a:endParaRPr sz="2600">
              <a:solidFill>
                <a:srgbClr val="000000"/>
              </a:solidFill>
            </a:endParaRPr>
          </a:p>
          <a:p>
            <a:pPr indent="-393700" lvl="0" marL="457200" rtl="0" algn="l">
              <a:spcBef>
                <a:spcPts val="0"/>
              </a:spcBef>
              <a:spcAft>
                <a:spcPts val="0"/>
              </a:spcAft>
              <a:buClr>
                <a:srgbClr val="000000"/>
              </a:buClr>
              <a:buSzPts val="2600"/>
              <a:buChar char="●"/>
            </a:pPr>
            <a:r>
              <a:rPr lang="en" sz="2600">
                <a:solidFill>
                  <a:srgbClr val="000000"/>
                </a:solidFill>
              </a:rPr>
              <a:t>Cart and cartReducer</a:t>
            </a:r>
            <a:endParaRPr sz="26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5"/>
          <p:cNvSpPr txBox="1"/>
          <p:nvPr>
            <p:ph type="title"/>
          </p:nvPr>
        </p:nvSpPr>
        <p:spPr>
          <a:xfrm>
            <a:off x="722925" y="657525"/>
            <a:ext cx="7606500" cy="325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38761D"/>
                </a:solidFill>
              </a:rPr>
              <a:t>What is Redux</a:t>
            </a:r>
            <a:r>
              <a:rPr b="1" lang="en">
                <a:solidFill>
                  <a:srgbClr val="38761D"/>
                </a:solidFill>
              </a:rPr>
              <a:t>?</a:t>
            </a:r>
            <a:endParaRPr b="1">
              <a:solidFill>
                <a:srgbClr val="38761D"/>
              </a:solidFill>
            </a:endParaRPr>
          </a:p>
          <a:p>
            <a:pPr indent="0" lvl="0" marL="0" rtl="0" algn="l">
              <a:spcBef>
                <a:spcPts val="0"/>
              </a:spcBef>
              <a:spcAft>
                <a:spcPts val="0"/>
              </a:spcAft>
              <a:buNone/>
            </a:pPr>
            <a:r>
              <a:t/>
            </a:r>
            <a:endParaRPr b="1">
              <a:solidFill>
                <a:srgbClr val="38761D"/>
              </a:solidFill>
            </a:endParaRPr>
          </a:p>
          <a:p>
            <a:pPr indent="0" lvl="0" marL="0" rtl="0" algn="l">
              <a:spcBef>
                <a:spcPts val="0"/>
              </a:spcBef>
              <a:spcAft>
                <a:spcPts val="0"/>
              </a:spcAft>
              <a:buNone/>
            </a:pPr>
            <a:r>
              <a:rPr b="1" lang="en" sz="1922">
                <a:solidFill>
                  <a:srgbClr val="000000"/>
                </a:solidFill>
              </a:rPr>
              <a:t>Redux is a state management library for JavaScript applications, often used with React but not limited to it. It helps manage the state of an application in a predictable way, especially when the app grows in complexity. The key concept behind Redux is having a single source of truth (called the store) that holds the state of the entire application. Components then read and update this state through actions and reducers.</a:t>
            </a:r>
            <a:endParaRPr b="1" sz="1922">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ph type="title"/>
          </p:nvPr>
        </p:nvSpPr>
        <p:spPr>
          <a:xfrm>
            <a:off x="442350" y="405525"/>
            <a:ext cx="8259300" cy="3849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38761D"/>
                </a:solidFill>
              </a:rPr>
              <a:t>React With Redux</a:t>
            </a:r>
            <a:endParaRPr b="1">
              <a:solidFill>
                <a:srgbClr val="38761D"/>
              </a:solidFill>
            </a:endParaRPr>
          </a:p>
          <a:p>
            <a:pPr indent="0" lvl="0" marL="0" rtl="0" algn="l">
              <a:spcBef>
                <a:spcPts val="0"/>
              </a:spcBef>
              <a:spcAft>
                <a:spcPts val="0"/>
              </a:spcAft>
              <a:buNone/>
            </a:pPr>
            <a:r>
              <a:t/>
            </a:r>
            <a:endParaRPr b="1">
              <a:solidFill>
                <a:srgbClr val="38761D"/>
              </a:solidFill>
            </a:endParaRPr>
          </a:p>
          <a:p>
            <a:pPr indent="0" lvl="0" marL="0" rtl="0" algn="l">
              <a:spcBef>
                <a:spcPts val="0"/>
              </a:spcBef>
              <a:spcAft>
                <a:spcPts val="0"/>
              </a:spcAft>
              <a:buNone/>
            </a:pPr>
            <a:r>
              <a:rPr b="1" lang="en" sz="1700">
                <a:solidFill>
                  <a:srgbClr val="000000"/>
                </a:solidFill>
              </a:rPr>
              <a:t>React and Redux are often used together because they complement each other in handling state management, particularly in larger or more complex applications. While React excels at building UI components and managing local state, it struggles with managing shared state across multiple components. Redux solves this by providing a centralized global store that can be accessed by any component, eliminating the need for prop drilling. Redux also enforces predictable state changes through actions and reducers, making state management more scalable and easier to debug, especially with tools like Redux DevTools. Together, they streamline state handling and maintain a clear separation of concerns between UI and state logic.</a:t>
            </a:r>
            <a:endParaRPr b="1" sz="17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7"/>
          <p:cNvSpPr txBox="1"/>
          <p:nvPr>
            <p:ph type="title"/>
          </p:nvPr>
        </p:nvSpPr>
        <p:spPr>
          <a:xfrm>
            <a:off x="619800" y="714800"/>
            <a:ext cx="7904400" cy="3288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38761D"/>
                </a:solidFill>
              </a:rPr>
              <a:t>What is a Cart</a:t>
            </a:r>
            <a:r>
              <a:rPr b="1" lang="en">
                <a:solidFill>
                  <a:srgbClr val="38761D"/>
                </a:solidFill>
              </a:rPr>
              <a:t>?</a:t>
            </a:r>
            <a:endParaRPr b="1">
              <a:solidFill>
                <a:srgbClr val="38761D"/>
              </a:solidFill>
            </a:endParaRPr>
          </a:p>
          <a:p>
            <a:pPr indent="0" lvl="0" marL="0" rtl="0" algn="l">
              <a:spcBef>
                <a:spcPts val="0"/>
              </a:spcBef>
              <a:spcAft>
                <a:spcPts val="0"/>
              </a:spcAft>
              <a:buNone/>
            </a:pPr>
            <a:r>
              <a:t/>
            </a:r>
            <a:endParaRPr b="1">
              <a:solidFill>
                <a:srgbClr val="38761D"/>
              </a:solidFill>
            </a:endParaRPr>
          </a:p>
          <a:p>
            <a:pPr indent="0" lvl="0" marL="0" rtl="0" algn="l">
              <a:spcBef>
                <a:spcPts val="0"/>
              </a:spcBef>
              <a:spcAft>
                <a:spcPts val="0"/>
              </a:spcAft>
              <a:buNone/>
            </a:pPr>
            <a:r>
              <a:rPr b="1" lang="en" sz="1900">
                <a:solidFill>
                  <a:srgbClr val="000000"/>
                </a:solidFill>
              </a:rPr>
              <a:t>Cart is a React component designed to manage and display the shopping cart interface within an application. It typically shows a list of items currently in the cart, the total cost, and may include functionality for users to add or remove products. The Cart component interacts with the Redux store or local state to ensure that the displayed cart information is up-to-date and reflects user actions.</a:t>
            </a:r>
            <a:endParaRPr b="1" sz="19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8"/>
          <p:cNvSpPr txBox="1"/>
          <p:nvPr>
            <p:ph type="title"/>
          </p:nvPr>
        </p:nvSpPr>
        <p:spPr>
          <a:xfrm>
            <a:off x="696150" y="742475"/>
            <a:ext cx="7751700" cy="3443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38761D"/>
                </a:solidFill>
              </a:rPr>
              <a:t>What is a cartReducer?</a:t>
            </a:r>
            <a:endParaRPr b="1">
              <a:solidFill>
                <a:srgbClr val="38761D"/>
              </a:solidFill>
            </a:endParaRPr>
          </a:p>
          <a:p>
            <a:pPr indent="0" lvl="0" marL="0" rtl="0" algn="l">
              <a:spcBef>
                <a:spcPts val="0"/>
              </a:spcBef>
              <a:spcAft>
                <a:spcPts val="0"/>
              </a:spcAft>
              <a:buNone/>
            </a:pPr>
            <a:r>
              <a:t/>
            </a:r>
            <a:endParaRPr b="1">
              <a:solidFill>
                <a:srgbClr val="38761D"/>
              </a:solidFill>
            </a:endParaRPr>
          </a:p>
          <a:p>
            <a:pPr indent="0" lvl="0" marL="0" rtl="0" algn="l">
              <a:spcBef>
                <a:spcPts val="0"/>
              </a:spcBef>
              <a:spcAft>
                <a:spcPts val="0"/>
              </a:spcAft>
              <a:buNone/>
            </a:pPr>
            <a:r>
              <a:rPr b="1" lang="en" sz="1900">
                <a:solidFill>
                  <a:srgbClr val="000000"/>
                </a:solidFill>
              </a:rPr>
              <a:t>A cartReducer is a function used in Redux to handle the state management for the shopping cart. It receives the current state and an action as arguments, then returns a new state based on the action's type. This function processes actions such as adding or removing items from the cart and updates the total cost accordingly. The cartReducer ensures that the Redux store accurately reflects changes to the cart's state based on the actions dispatched from the application.</a:t>
            </a:r>
            <a:endParaRPr b="1" sz="190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9"/>
          <p:cNvSpPr txBox="1"/>
          <p:nvPr>
            <p:ph type="ctrTitle"/>
          </p:nvPr>
        </p:nvSpPr>
        <p:spPr>
          <a:xfrm>
            <a:off x="918725" y="1822825"/>
            <a:ext cx="7102500" cy="1448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6000">
                <a:solidFill>
                  <a:srgbClr val="000000"/>
                </a:solidFill>
              </a:rPr>
              <a:t>End Of Chapter 11</a:t>
            </a:r>
            <a:endParaRPr b="1" sz="60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