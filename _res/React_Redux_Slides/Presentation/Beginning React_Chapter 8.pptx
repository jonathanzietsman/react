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Calibri" panose="020F0502020204030204" pitchFamily="34" charset="0"/>
      <p:regular r:id="rId14"/>
      <p:bold r:id="rId15"/>
      <p:italic r:id="rId16"/>
      <p:boldItalic r:id="rId17"/>
    </p:embeddedFont>
    <p:embeddedFont>
      <p:font typeface="Nunito"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98"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f280b8600c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f280b8600c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f280b8600c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f280b8600c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f280b8600c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f280b8600c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280b8600c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280b8600c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f280b8600c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f280b8600c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f280b8600c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f280b8600c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f280b8600c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f280b8600c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f280b8600c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f280b8600c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f280b8600c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f280b8600c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f280b8600c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f280b8600c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361450" y="1822825"/>
            <a:ext cx="6480900" cy="14763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6000" b="1">
                <a:solidFill>
                  <a:srgbClr val="000000"/>
                </a:solidFill>
              </a:rPr>
              <a:t>Beginning React</a:t>
            </a:r>
            <a:endParaRPr sz="60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4"/>
          <p:cNvSpPr txBox="1">
            <a:spLocks noGrp="1"/>
          </p:cNvSpPr>
          <p:nvPr>
            <p:ph type="title"/>
          </p:nvPr>
        </p:nvSpPr>
        <p:spPr>
          <a:xfrm>
            <a:off x="698125" y="649875"/>
            <a:ext cx="7949100" cy="39978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3333" b="1">
                <a:solidFill>
                  <a:srgbClr val="38761D"/>
                </a:solidFill>
              </a:rPr>
              <a:t>Chapter 8: Routing</a:t>
            </a:r>
            <a:endParaRPr sz="3333" b="1">
              <a:solidFill>
                <a:srgbClr val="38761D"/>
              </a:solidFill>
            </a:endParaRPr>
          </a:p>
          <a:p>
            <a:pPr marL="0" lvl="0" indent="0" algn="l" rtl="0">
              <a:spcBef>
                <a:spcPts val="0"/>
              </a:spcBef>
              <a:spcAft>
                <a:spcPts val="0"/>
              </a:spcAft>
              <a:buNone/>
            </a:pPr>
            <a:endParaRPr b="1">
              <a:solidFill>
                <a:srgbClr val="38761D"/>
              </a:solidFill>
            </a:endParaRPr>
          </a:p>
          <a:p>
            <a:pPr marL="0" lvl="0" indent="0" algn="l" rtl="0">
              <a:spcBef>
                <a:spcPts val="0"/>
              </a:spcBef>
              <a:spcAft>
                <a:spcPts val="0"/>
              </a:spcAft>
              <a:buNone/>
            </a:pPr>
            <a:r>
              <a:rPr lang="en" sz="3333" b="1">
                <a:solidFill>
                  <a:srgbClr val="000000"/>
                </a:solidFill>
              </a:rPr>
              <a:t>Brief Summary of Chapter 8</a:t>
            </a:r>
            <a:endParaRPr sz="3333" b="1">
              <a:solidFill>
                <a:srgbClr val="000000"/>
              </a:solidFill>
            </a:endParaRPr>
          </a:p>
          <a:p>
            <a:pPr marL="457200" lvl="0" indent="-406400" algn="l" rtl="0">
              <a:spcBef>
                <a:spcPts val="0"/>
              </a:spcBef>
              <a:spcAft>
                <a:spcPts val="0"/>
              </a:spcAft>
              <a:buClr>
                <a:srgbClr val="000000"/>
              </a:buClr>
              <a:buSzPts val="2800"/>
              <a:buChar char="●"/>
            </a:pPr>
            <a:r>
              <a:rPr lang="en" sz="2800">
                <a:solidFill>
                  <a:srgbClr val="000000"/>
                </a:solidFill>
              </a:rPr>
              <a:t>What is Routing</a:t>
            </a:r>
            <a:endParaRPr sz="2800">
              <a:solidFill>
                <a:srgbClr val="000000"/>
              </a:solidFill>
            </a:endParaRPr>
          </a:p>
          <a:p>
            <a:pPr marL="457200" lvl="0" indent="-406400" algn="l" rtl="0">
              <a:spcBef>
                <a:spcPts val="0"/>
              </a:spcBef>
              <a:spcAft>
                <a:spcPts val="0"/>
              </a:spcAft>
              <a:buClr>
                <a:srgbClr val="000000"/>
              </a:buClr>
              <a:buSzPts val="2800"/>
              <a:buChar char="●"/>
            </a:pPr>
            <a:r>
              <a:rPr lang="en" sz="2800">
                <a:solidFill>
                  <a:srgbClr val="000000"/>
                </a:solidFill>
              </a:rPr>
              <a:t>Types of Routers</a:t>
            </a:r>
            <a:endParaRPr sz="2800">
              <a:solidFill>
                <a:srgbClr val="000000"/>
              </a:solidFill>
            </a:endParaRPr>
          </a:p>
          <a:p>
            <a:pPr marL="457200" lvl="0" indent="-406400" algn="l" rtl="0">
              <a:spcBef>
                <a:spcPts val="0"/>
              </a:spcBef>
              <a:spcAft>
                <a:spcPts val="0"/>
              </a:spcAft>
              <a:buClr>
                <a:srgbClr val="000000"/>
              </a:buClr>
              <a:buSzPts val="2800"/>
              <a:buChar char="●"/>
            </a:pPr>
            <a:r>
              <a:rPr lang="en" sz="2800">
                <a:solidFill>
                  <a:srgbClr val="000000"/>
                </a:solidFill>
              </a:rPr>
              <a:t>Navigation Bar Link</a:t>
            </a:r>
            <a:endParaRPr sz="2800">
              <a:solidFill>
                <a:srgbClr val="000000"/>
              </a:solidFill>
            </a:endParaRPr>
          </a:p>
          <a:p>
            <a:pPr marL="457200" lvl="0" indent="-406400" algn="l" rtl="0">
              <a:spcBef>
                <a:spcPts val="0"/>
              </a:spcBef>
              <a:spcAft>
                <a:spcPts val="0"/>
              </a:spcAft>
              <a:buClr>
                <a:srgbClr val="000000"/>
              </a:buClr>
              <a:buSzPts val="2800"/>
              <a:buChar char="●"/>
            </a:pPr>
            <a:r>
              <a:rPr lang="en" sz="2800">
                <a:solidFill>
                  <a:srgbClr val="000000"/>
                </a:solidFill>
              </a:rPr>
              <a:t>Route Parameters </a:t>
            </a:r>
            <a:endParaRPr sz="2800">
              <a:solidFill>
                <a:srgbClr val="000000"/>
              </a:solidFill>
            </a:endParaRPr>
          </a:p>
          <a:p>
            <a:pPr marL="457200" lvl="0" indent="-406400" algn="l" rtl="0">
              <a:spcBef>
                <a:spcPts val="0"/>
              </a:spcBef>
              <a:spcAft>
                <a:spcPts val="0"/>
              </a:spcAft>
              <a:buClr>
                <a:srgbClr val="000000"/>
              </a:buClr>
              <a:buSzPts val="2800"/>
              <a:buChar char="●"/>
            </a:pPr>
            <a:r>
              <a:rPr lang="en" sz="2800">
                <a:solidFill>
                  <a:srgbClr val="000000"/>
                </a:solidFill>
              </a:rPr>
              <a:t>Programmatic Navigation</a:t>
            </a:r>
            <a:endParaRPr sz="28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5"/>
          <p:cNvSpPr txBox="1">
            <a:spLocks noGrp="1"/>
          </p:cNvSpPr>
          <p:nvPr>
            <p:ph type="title"/>
          </p:nvPr>
        </p:nvSpPr>
        <p:spPr>
          <a:xfrm>
            <a:off x="415400" y="504575"/>
            <a:ext cx="8405700" cy="4317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333" b="1">
                <a:solidFill>
                  <a:srgbClr val="38761D"/>
                </a:solidFill>
              </a:rPr>
              <a:t>What is Routing?</a:t>
            </a:r>
            <a:endParaRPr sz="3333" b="1">
              <a:solidFill>
                <a:srgbClr val="38761D"/>
              </a:solidFill>
            </a:endParaRPr>
          </a:p>
          <a:p>
            <a:pPr marL="0" lvl="0" indent="0" algn="l" rtl="0">
              <a:spcBef>
                <a:spcPts val="0"/>
              </a:spcBef>
              <a:spcAft>
                <a:spcPts val="0"/>
              </a:spcAft>
              <a:buNone/>
            </a:pPr>
            <a:endParaRPr sz="2000" b="1">
              <a:solidFill>
                <a:srgbClr val="38761D"/>
              </a:solidFill>
            </a:endParaRPr>
          </a:p>
          <a:p>
            <a:pPr marL="0" lvl="0" indent="0" algn="l" rtl="0">
              <a:spcBef>
                <a:spcPts val="0"/>
              </a:spcBef>
              <a:spcAft>
                <a:spcPts val="0"/>
              </a:spcAft>
              <a:buNone/>
            </a:pPr>
            <a:r>
              <a:rPr lang="en" sz="2155" b="1">
                <a:solidFill>
                  <a:srgbClr val="000000"/>
                </a:solidFill>
              </a:rPr>
              <a:t>Routing is the process of directing users to different parts of an application based on the URL they request. In a web application, it maps URLs to specific views or components, allowing users to navigate between different sections or pages without reloading the entire page. This enables seamless transitions and maintains the application’s state and history.</a:t>
            </a:r>
            <a:endParaRPr sz="2155" b="1">
              <a:solidFill>
                <a:srgbClr val="000000"/>
              </a:solidFill>
            </a:endParaRPr>
          </a:p>
          <a:p>
            <a:pPr marL="0" lvl="0" indent="0" algn="l" rtl="0">
              <a:spcBef>
                <a:spcPts val="0"/>
              </a:spcBef>
              <a:spcAft>
                <a:spcPts val="0"/>
              </a:spcAft>
              <a:buNone/>
            </a:pPr>
            <a:endParaRPr sz="1933" b="1">
              <a:solidFill>
                <a:srgbClr val="000000"/>
              </a:solidFill>
            </a:endParaRPr>
          </a:p>
          <a:p>
            <a:pPr marL="0" lvl="0" indent="0" algn="l" rtl="0">
              <a:spcBef>
                <a:spcPts val="0"/>
              </a:spcBef>
              <a:spcAft>
                <a:spcPts val="0"/>
              </a:spcAft>
              <a:buNone/>
            </a:pPr>
            <a:r>
              <a:rPr lang="en" sz="2155" b="1">
                <a:solidFill>
                  <a:srgbClr val="000000"/>
                </a:solidFill>
              </a:rPr>
              <a:t>After installing the react-router-dom library, we need to define our routes. Each route is an endpoint that can be entered into the browser’s location bar. When a route is requested, we can render the appropriate content. (</a:t>
            </a:r>
            <a:r>
              <a:rPr lang="en" sz="2155" b="1">
                <a:solidFill>
                  <a:srgbClr val="38761D"/>
                </a:solidFill>
              </a:rPr>
              <a:t>npm install --save react-router-dom</a:t>
            </a:r>
            <a:r>
              <a:rPr lang="en" sz="2155" b="1">
                <a:solidFill>
                  <a:srgbClr val="000000"/>
                </a:solidFill>
              </a:rPr>
              <a:t>)</a:t>
            </a:r>
            <a:endParaRPr sz="2155" b="1">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6"/>
          <p:cNvSpPr txBox="1">
            <a:spLocks noGrp="1"/>
          </p:cNvSpPr>
          <p:nvPr>
            <p:ph type="title"/>
          </p:nvPr>
        </p:nvSpPr>
        <p:spPr>
          <a:xfrm>
            <a:off x="361025" y="313175"/>
            <a:ext cx="8460000" cy="4551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333" b="1">
                <a:solidFill>
                  <a:srgbClr val="38761D"/>
                </a:solidFill>
              </a:rPr>
              <a:t>Types of Routers</a:t>
            </a:r>
            <a:endParaRPr sz="3333" b="1">
              <a:solidFill>
                <a:srgbClr val="38761D"/>
              </a:solidFill>
            </a:endParaRPr>
          </a:p>
          <a:p>
            <a:pPr marL="0" lvl="0" indent="0" algn="l" rtl="0">
              <a:spcBef>
                <a:spcPts val="0"/>
              </a:spcBef>
              <a:spcAft>
                <a:spcPts val="0"/>
              </a:spcAft>
              <a:buNone/>
            </a:pPr>
            <a:endParaRPr sz="2200" b="1">
              <a:solidFill>
                <a:srgbClr val="38761D"/>
              </a:solidFill>
            </a:endParaRPr>
          </a:p>
          <a:p>
            <a:pPr marL="0" lvl="0" indent="0" algn="l" rtl="0">
              <a:spcBef>
                <a:spcPts val="0"/>
              </a:spcBef>
              <a:spcAft>
                <a:spcPts val="0"/>
              </a:spcAft>
              <a:buNone/>
            </a:pPr>
            <a:r>
              <a:rPr lang="en" sz="1900" b="1">
                <a:solidFill>
                  <a:srgbClr val="38761D"/>
                </a:solidFill>
              </a:rPr>
              <a:t>BrowserRouter:</a:t>
            </a:r>
            <a:r>
              <a:rPr lang="en" sz="1900" b="1">
                <a:solidFill>
                  <a:srgbClr val="000000"/>
                </a:solidFill>
              </a:rPr>
              <a:t> manages routing by using the HTML5 history API. It contains `Route` components that map URL paths to specific components. When the browser’s URL matches a route's path, the associated component is rendered.</a:t>
            </a:r>
            <a:endParaRPr sz="1900" b="1">
              <a:solidFill>
                <a:srgbClr val="000000"/>
              </a:solidFill>
            </a:endParaRPr>
          </a:p>
          <a:p>
            <a:pPr marL="0" lvl="0" indent="0" algn="l" rtl="0">
              <a:spcBef>
                <a:spcPts val="0"/>
              </a:spcBef>
              <a:spcAft>
                <a:spcPts val="0"/>
              </a:spcAft>
              <a:buNone/>
            </a:pPr>
            <a:endParaRPr sz="1122" b="1">
              <a:solidFill>
                <a:srgbClr val="000000"/>
              </a:solidFill>
            </a:endParaRPr>
          </a:p>
          <a:p>
            <a:pPr marL="0" lvl="0" indent="0" algn="l" rtl="0">
              <a:spcBef>
                <a:spcPts val="0"/>
              </a:spcBef>
              <a:spcAft>
                <a:spcPts val="0"/>
              </a:spcAft>
              <a:buNone/>
            </a:pPr>
            <a:r>
              <a:rPr lang="en" sz="1900" b="1">
                <a:solidFill>
                  <a:srgbClr val="38761D"/>
                </a:solidFill>
              </a:rPr>
              <a:t>HashRouter:</a:t>
            </a:r>
            <a:r>
              <a:rPr lang="en" sz="1900" b="1">
                <a:solidFill>
                  <a:srgbClr val="000000"/>
                </a:solidFill>
              </a:rPr>
              <a:t> Uses URL hash fragments (e.g., example.com/#/page) for routing. Ideal for applications where you can't configure the server or need support for older browsers.</a:t>
            </a:r>
            <a:endParaRPr sz="1900" b="1">
              <a:solidFill>
                <a:srgbClr val="000000"/>
              </a:solidFill>
            </a:endParaRPr>
          </a:p>
          <a:p>
            <a:pPr marL="0" lvl="0" indent="0" algn="l" rtl="0">
              <a:spcBef>
                <a:spcPts val="0"/>
              </a:spcBef>
              <a:spcAft>
                <a:spcPts val="0"/>
              </a:spcAft>
              <a:buNone/>
            </a:pPr>
            <a:endParaRPr sz="1122" b="1">
              <a:solidFill>
                <a:srgbClr val="000000"/>
              </a:solidFill>
            </a:endParaRPr>
          </a:p>
          <a:p>
            <a:pPr marL="0" lvl="0" indent="0" algn="l" rtl="0">
              <a:spcBef>
                <a:spcPts val="0"/>
              </a:spcBef>
              <a:spcAft>
                <a:spcPts val="0"/>
              </a:spcAft>
              <a:buNone/>
            </a:pPr>
            <a:r>
              <a:rPr lang="en" sz="1900" b="1">
                <a:solidFill>
                  <a:srgbClr val="38761D"/>
                </a:solidFill>
              </a:rPr>
              <a:t>MemoryRouter:</a:t>
            </a:r>
            <a:r>
              <a:rPr lang="en" sz="1900" b="1">
                <a:solidFill>
                  <a:srgbClr val="000000"/>
                </a:solidFill>
              </a:rPr>
              <a:t> Keeps routing state in memory, making it useful for testing or non-URL-based routing scenarios, such as mobile apps or server-side rendering.</a:t>
            </a:r>
            <a:endParaRPr sz="1900" b="1">
              <a:solidFill>
                <a:srgbClr val="000000"/>
              </a:solidFill>
            </a:endParaRPr>
          </a:p>
          <a:p>
            <a:pPr marL="0" lvl="0" indent="0" algn="l" rtl="0">
              <a:spcBef>
                <a:spcPts val="0"/>
              </a:spcBef>
              <a:spcAft>
                <a:spcPts val="0"/>
              </a:spcAft>
              <a:buNone/>
            </a:pPr>
            <a:endParaRPr sz="1122" b="1">
              <a:solidFill>
                <a:srgbClr val="000000"/>
              </a:solidFill>
            </a:endParaRPr>
          </a:p>
          <a:p>
            <a:pPr marL="0" lvl="0" indent="0" algn="l" rtl="0">
              <a:spcBef>
                <a:spcPts val="0"/>
              </a:spcBef>
              <a:spcAft>
                <a:spcPts val="0"/>
              </a:spcAft>
              <a:buNone/>
            </a:pPr>
            <a:r>
              <a:rPr lang="en" sz="1900" b="1">
                <a:solidFill>
                  <a:srgbClr val="38761D"/>
                </a:solidFill>
              </a:rPr>
              <a:t>StaticRouter:</a:t>
            </a:r>
            <a:r>
              <a:rPr lang="en" sz="1900" b="1">
                <a:solidFill>
                  <a:srgbClr val="000000"/>
                </a:solidFill>
              </a:rPr>
              <a:t> Used in server-side rendering to handle routing based on the request URL without relying on browser history. It provides a static routing configuration.</a:t>
            </a:r>
            <a:endParaRPr sz="1900" b="1">
              <a:solidFill>
                <a:srgbClr val="000000"/>
              </a:solidFill>
            </a:endParaRPr>
          </a:p>
          <a:p>
            <a:pPr marL="0" lvl="0" indent="0" algn="l" rtl="0">
              <a:spcBef>
                <a:spcPts val="0"/>
              </a:spcBef>
              <a:spcAft>
                <a:spcPts val="0"/>
              </a:spcAft>
              <a:buNone/>
            </a:pPr>
            <a:endParaRPr sz="1900" b="1">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7"/>
          <p:cNvSpPr txBox="1">
            <a:spLocks noGrp="1"/>
          </p:cNvSpPr>
          <p:nvPr>
            <p:ph type="title"/>
          </p:nvPr>
        </p:nvSpPr>
        <p:spPr>
          <a:xfrm>
            <a:off x="361025" y="428450"/>
            <a:ext cx="8394900" cy="3882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8761D"/>
                </a:solidFill>
              </a:rPr>
              <a:t>Notes:</a:t>
            </a:r>
            <a:endParaRPr b="1">
              <a:solidFill>
                <a:srgbClr val="38761D"/>
              </a:solidFill>
            </a:endParaRPr>
          </a:p>
          <a:p>
            <a:pPr marL="457200" lvl="0" indent="-349250" algn="l" rtl="0">
              <a:spcBef>
                <a:spcPts val="0"/>
              </a:spcBef>
              <a:spcAft>
                <a:spcPts val="0"/>
              </a:spcAft>
              <a:buSzPts val="1900"/>
              <a:buChar char="●"/>
            </a:pPr>
            <a:r>
              <a:rPr lang="en" sz="1900" b="1">
                <a:solidFill>
                  <a:srgbClr val="000000"/>
                </a:solidFill>
              </a:rPr>
              <a:t>You import </a:t>
            </a:r>
            <a:r>
              <a:rPr lang="en" sz="1900" b="1">
                <a:solidFill>
                  <a:srgbClr val="38761D"/>
                </a:solidFill>
              </a:rPr>
              <a:t>Route</a:t>
            </a:r>
            <a:r>
              <a:rPr lang="en" sz="1900" b="1">
                <a:solidFill>
                  <a:srgbClr val="000000"/>
                </a:solidFill>
              </a:rPr>
              <a:t> to define URL paths and specify which components should be rendered for those paths in your React application.</a:t>
            </a:r>
            <a:endParaRPr sz="1900" b="1">
              <a:solidFill>
                <a:srgbClr val="000000"/>
              </a:solidFill>
            </a:endParaRPr>
          </a:p>
          <a:p>
            <a:pPr marL="457200" lvl="0" indent="-349250" algn="l" rtl="0">
              <a:spcBef>
                <a:spcPts val="0"/>
              </a:spcBef>
              <a:spcAft>
                <a:spcPts val="0"/>
              </a:spcAft>
              <a:buClr>
                <a:srgbClr val="000000"/>
              </a:buClr>
              <a:buSzPts val="1900"/>
              <a:buChar char="●"/>
            </a:pPr>
            <a:r>
              <a:rPr lang="en" sz="1900" b="1">
                <a:solidFill>
                  <a:srgbClr val="000000"/>
                </a:solidFill>
              </a:rPr>
              <a:t>You import </a:t>
            </a:r>
            <a:r>
              <a:rPr lang="en" sz="1900" b="1">
                <a:solidFill>
                  <a:srgbClr val="38761D"/>
                </a:solidFill>
              </a:rPr>
              <a:t>Routes</a:t>
            </a:r>
            <a:r>
              <a:rPr lang="en" sz="1900" b="1">
                <a:solidFill>
                  <a:srgbClr val="000000"/>
                </a:solidFill>
              </a:rPr>
              <a:t> instead of Switch because Routes is the updated component in the latest version of react-router-dom (v6 and above) for handling routing. </a:t>
            </a:r>
            <a:endParaRPr sz="1900" b="1">
              <a:solidFill>
                <a:srgbClr val="000000"/>
              </a:solidFill>
            </a:endParaRPr>
          </a:p>
          <a:p>
            <a:pPr marL="457200" lvl="0" indent="-349250" algn="l" rtl="0">
              <a:spcBef>
                <a:spcPts val="0"/>
              </a:spcBef>
              <a:spcAft>
                <a:spcPts val="0"/>
              </a:spcAft>
              <a:buClr>
                <a:srgbClr val="000000"/>
              </a:buClr>
              <a:buSzPts val="1900"/>
              <a:buChar char="●"/>
            </a:pPr>
            <a:r>
              <a:rPr lang="en" sz="1900" b="1">
                <a:solidFill>
                  <a:srgbClr val="000000"/>
                </a:solidFill>
              </a:rPr>
              <a:t>Make use of element instead of component: </a:t>
            </a:r>
            <a:r>
              <a:rPr lang="en" sz="1900" b="1">
                <a:solidFill>
                  <a:srgbClr val="38761D"/>
                </a:solidFill>
              </a:rPr>
              <a:t>&lt;Route path="/github" element={&lt;GitHub /&gt;} /&gt;</a:t>
            </a:r>
            <a:endParaRPr sz="1900" b="1">
              <a:solidFill>
                <a:srgbClr val="38761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8"/>
          <p:cNvSpPr txBox="1">
            <a:spLocks noGrp="1"/>
          </p:cNvSpPr>
          <p:nvPr>
            <p:ph type="title"/>
          </p:nvPr>
        </p:nvSpPr>
        <p:spPr>
          <a:xfrm>
            <a:off x="350150" y="384950"/>
            <a:ext cx="8297400" cy="4349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solidFill>
                  <a:srgbClr val="38761D"/>
                </a:solidFill>
              </a:rPr>
              <a:t>Navigation Bar Link</a:t>
            </a:r>
            <a:endParaRPr b="1">
              <a:solidFill>
                <a:srgbClr val="38761D"/>
              </a:solidFill>
            </a:endParaRPr>
          </a:p>
          <a:p>
            <a:pPr marL="0" lvl="0" indent="0" algn="l" rtl="0">
              <a:spcBef>
                <a:spcPts val="0"/>
              </a:spcBef>
              <a:spcAft>
                <a:spcPts val="0"/>
              </a:spcAft>
              <a:buNone/>
            </a:pPr>
            <a:endParaRPr sz="1200" b="1">
              <a:solidFill>
                <a:srgbClr val="38761D"/>
              </a:solidFill>
            </a:endParaRPr>
          </a:p>
          <a:p>
            <a:pPr marL="0" lvl="0" indent="0" algn="l" rtl="0">
              <a:spcBef>
                <a:spcPts val="0"/>
              </a:spcBef>
              <a:spcAft>
                <a:spcPts val="0"/>
              </a:spcAft>
              <a:buNone/>
            </a:pPr>
            <a:r>
              <a:rPr lang="en" sz="2122" b="1">
                <a:solidFill>
                  <a:srgbClr val="38761D"/>
                </a:solidFill>
              </a:rPr>
              <a:t>Navigation bar links</a:t>
            </a:r>
            <a:r>
              <a:rPr lang="en" sz="2122" b="1">
                <a:solidFill>
                  <a:srgbClr val="000000"/>
                </a:solidFill>
              </a:rPr>
              <a:t> in a web application are clickable elements that allow users to move between different sections or pages. In React, you typically use components from react-router-dom to create these links. </a:t>
            </a:r>
            <a:endParaRPr sz="2122" b="1">
              <a:solidFill>
                <a:srgbClr val="000000"/>
              </a:solidFill>
            </a:endParaRPr>
          </a:p>
          <a:p>
            <a:pPr marL="0" lvl="0" indent="0" algn="l" rtl="0">
              <a:spcBef>
                <a:spcPts val="0"/>
              </a:spcBef>
              <a:spcAft>
                <a:spcPts val="0"/>
              </a:spcAft>
              <a:buNone/>
            </a:pPr>
            <a:endParaRPr sz="1066" b="1">
              <a:solidFill>
                <a:srgbClr val="000000"/>
              </a:solidFill>
            </a:endParaRPr>
          </a:p>
          <a:p>
            <a:pPr marL="0" lvl="0" indent="0" algn="l" rtl="0">
              <a:spcBef>
                <a:spcPts val="0"/>
              </a:spcBef>
              <a:spcAft>
                <a:spcPts val="0"/>
              </a:spcAft>
              <a:buNone/>
            </a:pPr>
            <a:r>
              <a:rPr lang="en" sz="2122" b="1">
                <a:solidFill>
                  <a:srgbClr val="38761D"/>
                </a:solidFill>
              </a:rPr>
              <a:t>Navbar: </a:t>
            </a:r>
            <a:r>
              <a:rPr lang="en" sz="2122" b="1">
                <a:solidFill>
                  <a:srgbClr val="000000"/>
                </a:solidFill>
              </a:rPr>
              <a:t>navbar is a layout component that uses routing links (Link and NavLink) to enable navigation between different routes in your application.</a:t>
            </a:r>
            <a:endParaRPr sz="2122" b="1">
              <a:solidFill>
                <a:srgbClr val="000000"/>
              </a:solidFill>
            </a:endParaRPr>
          </a:p>
          <a:p>
            <a:pPr marL="0" lvl="0" indent="0" algn="l" rtl="0">
              <a:spcBef>
                <a:spcPts val="0"/>
              </a:spcBef>
              <a:spcAft>
                <a:spcPts val="0"/>
              </a:spcAft>
              <a:buNone/>
            </a:pPr>
            <a:endParaRPr sz="1122" b="1">
              <a:solidFill>
                <a:srgbClr val="000000"/>
              </a:solidFill>
            </a:endParaRPr>
          </a:p>
          <a:p>
            <a:pPr marL="0" lvl="0" indent="0" algn="l" rtl="0">
              <a:spcBef>
                <a:spcPts val="0"/>
              </a:spcBef>
              <a:spcAft>
                <a:spcPts val="0"/>
              </a:spcAft>
              <a:buNone/>
            </a:pPr>
            <a:r>
              <a:rPr lang="en" sz="2122" b="1">
                <a:solidFill>
                  <a:srgbClr val="38761D"/>
                </a:solidFill>
              </a:rPr>
              <a:t>Link:</a:t>
            </a:r>
            <a:r>
              <a:rPr lang="en" sz="2122" b="1">
                <a:solidFill>
                  <a:srgbClr val="000000"/>
                </a:solidFill>
              </a:rPr>
              <a:t> Provides basic navigation by changing the URL and rendering the associated component.</a:t>
            </a:r>
            <a:endParaRPr sz="2122" b="1">
              <a:solidFill>
                <a:srgbClr val="000000"/>
              </a:solidFill>
            </a:endParaRPr>
          </a:p>
          <a:p>
            <a:pPr marL="0" lvl="0" indent="0" algn="l" rtl="0">
              <a:spcBef>
                <a:spcPts val="0"/>
              </a:spcBef>
              <a:spcAft>
                <a:spcPts val="0"/>
              </a:spcAft>
              <a:buNone/>
            </a:pPr>
            <a:endParaRPr sz="1122" b="1">
              <a:solidFill>
                <a:srgbClr val="000000"/>
              </a:solidFill>
            </a:endParaRPr>
          </a:p>
          <a:p>
            <a:pPr marL="0" lvl="0" indent="0" algn="l" rtl="0">
              <a:spcBef>
                <a:spcPts val="0"/>
              </a:spcBef>
              <a:spcAft>
                <a:spcPts val="0"/>
              </a:spcAft>
              <a:buNone/>
            </a:pPr>
            <a:r>
              <a:rPr lang="en" sz="2122" b="1">
                <a:solidFill>
                  <a:srgbClr val="38761D"/>
                </a:solidFill>
              </a:rPr>
              <a:t>NavLink:</a:t>
            </a:r>
            <a:r>
              <a:rPr lang="en" sz="2122" b="1">
                <a:solidFill>
                  <a:srgbClr val="000000"/>
                </a:solidFill>
              </a:rPr>
              <a:t> Similar to Link, but with additional features for applying active styles or classes based on the current route.</a:t>
            </a:r>
            <a:endParaRPr sz="2122" b="1">
              <a:solidFill>
                <a:srgbClr val="000000"/>
              </a:solidFill>
            </a:endParaRPr>
          </a:p>
          <a:p>
            <a:pPr marL="0" lvl="0" indent="0" algn="l" rtl="0">
              <a:spcBef>
                <a:spcPts val="0"/>
              </a:spcBef>
              <a:spcAft>
                <a:spcPts val="0"/>
              </a:spcAft>
              <a:buNone/>
            </a:pPr>
            <a:endParaRPr sz="1900" b="1">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9"/>
          <p:cNvSpPr txBox="1">
            <a:spLocks noGrp="1"/>
          </p:cNvSpPr>
          <p:nvPr>
            <p:ph type="title"/>
          </p:nvPr>
        </p:nvSpPr>
        <p:spPr>
          <a:xfrm>
            <a:off x="284813" y="277318"/>
            <a:ext cx="8536898" cy="440710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b="1" dirty="0">
                <a:solidFill>
                  <a:srgbClr val="38761D"/>
                </a:solidFill>
              </a:rPr>
              <a:t>Route Parameters </a:t>
            </a:r>
            <a:endParaRPr b="1" dirty="0">
              <a:solidFill>
                <a:srgbClr val="38761D"/>
              </a:solidFill>
            </a:endParaRPr>
          </a:p>
          <a:p>
            <a:pPr marL="0" lvl="0" indent="0" algn="l" rtl="0">
              <a:spcBef>
                <a:spcPts val="0"/>
              </a:spcBef>
              <a:spcAft>
                <a:spcPts val="0"/>
              </a:spcAft>
              <a:buSzPts val="990"/>
              <a:buNone/>
            </a:pPr>
            <a:endParaRPr sz="1400" b="1" dirty="0">
              <a:solidFill>
                <a:srgbClr val="38761D"/>
              </a:solidFill>
            </a:endParaRPr>
          </a:p>
          <a:p>
            <a:r>
              <a:rPr lang="en" sz="1700" b="1" dirty="0">
                <a:solidFill>
                  <a:srgbClr val="38761D"/>
                </a:solidFill>
              </a:rPr>
              <a:t>Route parameters</a:t>
            </a:r>
            <a:r>
              <a:rPr lang="en" sz="1700" b="1" dirty="0">
                <a:solidFill>
                  <a:srgbClr val="000000"/>
                </a:solidFill>
              </a:rPr>
              <a:t> are placeholders in a URL that allow you to capture and use dynamic values within your routes. They are useful for creating routes that depend on variable data, such as user IDs, article slugs, or any other dynamic segment.</a:t>
            </a:r>
            <a:br>
              <a:rPr lang="en" sz="1920" b="1" dirty="0">
                <a:solidFill>
                  <a:srgbClr val="000000"/>
                </a:solidFill>
              </a:rPr>
            </a:br>
            <a:br>
              <a:rPr lang="en" sz="1920" b="1" dirty="0">
                <a:solidFill>
                  <a:srgbClr val="000000"/>
                </a:solidFill>
              </a:rPr>
            </a:br>
            <a:r>
              <a:rPr lang="en-ZA" sz="2200" b="1" dirty="0">
                <a:solidFill>
                  <a:srgbClr val="38761D"/>
                </a:solidFill>
              </a:rPr>
              <a:t>Explanation for the Code Below:</a:t>
            </a:r>
            <a:br>
              <a:rPr lang="en" sz="1700" b="1" dirty="0">
                <a:solidFill>
                  <a:srgbClr val="000000"/>
                </a:solidFill>
              </a:rPr>
            </a:br>
            <a:r>
              <a:rPr lang="en-ZA" sz="1700" b="1" dirty="0">
                <a:solidFill>
                  <a:schemeClr val="tx2">
                    <a:lumMod val="10000"/>
                  </a:schemeClr>
                </a:solidFill>
              </a:rPr>
              <a:t>A </a:t>
            </a:r>
            <a:r>
              <a:rPr lang="en-ZA" sz="1700" b="1" dirty="0">
                <a:solidFill>
                  <a:srgbClr val="38761D"/>
                </a:solidFill>
              </a:rPr>
              <a:t>hook</a:t>
            </a:r>
            <a:r>
              <a:rPr lang="en-ZA" sz="1700" b="1" dirty="0">
                <a:solidFill>
                  <a:schemeClr val="tx2">
                    <a:lumMod val="10000"/>
                  </a:schemeClr>
                </a:solidFill>
              </a:rPr>
              <a:t> in React is a special function that lets you use features like state and lifecycle methods in function components. </a:t>
            </a:r>
            <a:r>
              <a:rPr lang="en-ZA" sz="1700" b="1" dirty="0" err="1">
                <a:solidFill>
                  <a:srgbClr val="38761D"/>
                </a:solidFill>
              </a:rPr>
              <a:t>useParams</a:t>
            </a:r>
            <a:r>
              <a:rPr lang="en-ZA" sz="1700" b="1" dirty="0">
                <a:solidFill>
                  <a:schemeClr val="tx2">
                    <a:lumMod val="10000"/>
                  </a:schemeClr>
                </a:solidFill>
              </a:rPr>
              <a:t> is a hook provided by the React Router library, it is used to access route parameters from the URL. </a:t>
            </a:r>
            <a:br>
              <a:rPr lang="en-ZA" sz="1700" b="1" dirty="0">
                <a:solidFill>
                  <a:schemeClr val="tx2">
                    <a:lumMod val="10000"/>
                  </a:schemeClr>
                </a:solidFill>
              </a:rPr>
            </a:br>
            <a:br>
              <a:rPr lang="en-ZA" sz="1000" b="1" dirty="0">
                <a:solidFill>
                  <a:schemeClr val="tx2">
                    <a:lumMod val="10000"/>
                  </a:schemeClr>
                </a:solidFill>
              </a:rPr>
            </a:br>
            <a:r>
              <a:rPr lang="en-ZA" sz="1700" b="1" dirty="0">
                <a:solidFill>
                  <a:schemeClr val="tx2">
                    <a:lumMod val="10000"/>
                  </a:schemeClr>
                </a:solidFill>
              </a:rPr>
              <a:t>The code creates a function </a:t>
            </a:r>
            <a:r>
              <a:rPr lang="en-ZA" sz="1700" b="1" dirty="0" err="1">
                <a:solidFill>
                  <a:srgbClr val="38761D"/>
                </a:solidFill>
              </a:rPr>
              <a:t>GitHubUser</a:t>
            </a:r>
            <a:r>
              <a:rPr lang="en-ZA" sz="1700" b="1" dirty="0">
                <a:solidFill>
                  <a:schemeClr val="tx2">
                    <a:lumMod val="10000"/>
                  </a:schemeClr>
                </a:solidFill>
              </a:rPr>
              <a:t> which is a React component that retrieves user information from the URL parameters using </a:t>
            </a:r>
            <a:r>
              <a:rPr lang="en-ZA" sz="1700" b="1" dirty="0" err="1">
                <a:solidFill>
                  <a:srgbClr val="38761D"/>
                </a:solidFill>
              </a:rPr>
              <a:t>useParams</a:t>
            </a:r>
            <a:r>
              <a:rPr lang="en-ZA" sz="1700" b="1" dirty="0">
                <a:solidFill>
                  <a:schemeClr val="tx2">
                    <a:lumMod val="10000"/>
                  </a:schemeClr>
                </a:solidFill>
              </a:rPr>
              <a:t>. It retrieves the id and login values from these parameters and displays them. The component renders and returns the users information.</a:t>
            </a:r>
            <a:endParaRPr sz="1700" b="1" dirty="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title"/>
          </p:nvPr>
        </p:nvSpPr>
        <p:spPr>
          <a:xfrm>
            <a:off x="350150" y="384950"/>
            <a:ext cx="8351400" cy="4241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rgbClr val="000000"/>
              </a:buClr>
              <a:buSzPct val="41870"/>
              <a:buFont typeface="Arial"/>
              <a:buNone/>
            </a:pPr>
            <a:r>
              <a:rPr lang="en" sz="2364" b="1">
                <a:solidFill>
                  <a:srgbClr val="38761D"/>
                </a:solidFill>
              </a:rPr>
              <a:t>Within GitHubUser File , Test out the first code then the second:</a:t>
            </a:r>
            <a:endParaRPr sz="2364" b="1">
              <a:solidFill>
                <a:srgbClr val="38761D"/>
              </a:solidFill>
            </a:endParaRPr>
          </a:p>
          <a:p>
            <a:pPr marL="457200" lvl="0" indent="0" algn="l" rtl="0">
              <a:spcBef>
                <a:spcPts val="0"/>
              </a:spcBef>
              <a:spcAft>
                <a:spcPts val="0"/>
              </a:spcAft>
              <a:buNone/>
            </a:pPr>
            <a:endParaRPr sz="1920" b="1">
              <a:solidFill>
                <a:srgbClr val="000000"/>
              </a:solidFill>
            </a:endParaRPr>
          </a:p>
          <a:p>
            <a:pPr marL="457200" lvl="0" indent="-338328" algn="l" rtl="0">
              <a:spcBef>
                <a:spcPts val="0"/>
              </a:spcBef>
              <a:spcAft>
                <a:spcPts val="0"/>
              </a:spcAft>
              <a:buClr>
                <a:srgbClr val="000000"/>
              </a:buClr>
              <a:buSzPct val="100000"/>
              <a:buChar char="●"/>
            </a:pPr>
            <a:r>
              <a:rPr lang="en" sz="1920" b="1">
                <a:solidFill>
                  <a:srgbClr val="000000"/>
                </a:solidFill>
              </a:rPr>
              <a:t>import { useParams, useNavigate } from 'react-router-dom';</a:t>
            </a:r>
            <a:endParaRPr sz="1920" b="1">
              <a:solidFill>
                <a:srgbClr val="000000"/>
              </a:solidFill>
            </a:endParaRPr>
          </a:p>
          <a:p>
            <a:pPr marL="457200" lvl="0" indent="0" algn="l" rtl="0">
              <a:spcBef>
                <a:spcPts val="0"/>
              </a:spcBef>
              <a:spcAft>
                <a:spcPts val="0"/>
              </a:spcAft>
              <a:buNone/>
            </a:pPr>
            <a:endParaRPr sz="2020" b="1">
              <a:solidFill>
                <a:srgbClr val="000000"/>
              </a:solidFill>
            </a:endParaRPr>
          </a:p>
          <a:p>
            <a:pPr marL="457200" lvl="0" indent="0" algn="l" rtl="0">
              <a:spcBef>
                <a:spcPts val="0"/>
              </a:spcBef>
              <a:spcAft>
                <a:spcPts val="0"/>
              </a:spcAft>
              <a:buNone/>
            </a:pPr>
            <a:r>
              <a:rPr lang="en" sz="2020" b="1">
                <a:solidFill>
                  <a:srgbClr val="000000"/>
                </a:solidFill>
              </a:rPr>
              <a:t>function GitHubUser() {</a:t>
            </a:r>
            <a:endParaRPr sz="2020" b="1">
              <a:solidFill>
                <a:srgbClr val="000000"/>
              </a:solidFill>
            </a:endParaRPr>
          </a:p>
          <a:p>
            <a:pPr marL="457200" lvl="0" indent="0" algn="l" rtl="0">
              <a:spcBef>
                <a:spcPts val="0"/>
              </a:spcBef>
              <a:spcAft>
                <a:spcPts val="0"/>
              </a:spcAft>
              <a:buNone/>
            </a:pPr>
            <a:r>
              <a:rPr lang="en" sz="2020" b="1">
                <a:solidFill>
                  <a:srgbClr val="000000"/>
                </a:solidFill>
              </a:rPr>
              <a:t>    const { id, login } = useParams();</a:t>
            </a:r>
            <a:endParaRPr sz="2020" b="1">
              <a:solidFill>
                <a:srgbClr val="000000"/>
              </a:solidFill>
            </a:endParaRPr>
          </a:p>
          <a:p>
            <a:pPr marL="457200" lvl="0" indent="0" algn="l" rtl="0">
              <a:spcBef>
                <a:spcPts val="0"/>
              </a:spcBef>
              <a:spcAft>
                <a:spcPts val="0"/>
              </a:spcAft>
              <a:buNone/>
            </a:pPr>
            <a:r>
              <a:rPr lang="en" sz="2020" b="1">
                <a:solidFill>
                  <a:srgbClr val="000000"/>
                </a:solidFill>
              </a:rPr>
              <a:t>    return (</a:t>
            </a:r>
            <a:endParaRPr sz="2020" b="1">
              <a:solidFill>
                <a:srgbClr val="000000"/>
              </a:solidFill>
            </a:endParaRPr>
          </a:p>
          <a:p>
            <a:pPr marL="457200" lvl="0" indent="0" algn="l" rtl="0">
              <a:spcBef>
                <a:spcPts val="0"/>
              </a:spcBef>
              <a:spcAft>
                <a:spcPts val="0"/>
              </a:spcAft>
              <a:buNone/>
            </a:pPr>
            <a:r>
              <a:rPr lang="en" sz="2020" b="1">
                <a:solidFill>
                  <a:srgbClr val="000000"/>
                </a:solidFill>
              </a:rPr>
              <a:t>        &lt;div&gt;</a:t>
            </a:r>
            <a:endParaRPr sz="2020" b="1">
              <a:solidFill>
                <a:srgbClr val="000000"/>
              </a:solidFill>
            </a:endParaRPr>
          </a:p>
          <a:p>
            <a:pPr marL="457200" lvl="0" indent="0" algn="l" rtl="0">
              <a:spcBef>
                <a:spcPts val="0"/>
              </a:spcBef>
              <a:spcAft>
                <a:spcPts val="0"/>
              </a:spcAft>
              <a:buNone/>
            </a:pPr>
            <a:r>
              <a:rPr lang="en" sz="2020" b="1">
                <a:solidFill>
                  <a:srgbClr val="000000"/>
                </a:solidFill>
              </a:rPr>
              <a:t>            &lt;h1&gt;User Login: {login}&lt;/h1&gt;</a:t>
            </a:r>
            <a:endParaRPr sz="2020" b="1">
              <a:solidFill>
                <a:srgbClr val="000000"/>
              </a:solidFill>
            </a:endParaRPr>
          </a:p>
          <a:p>
            <a:pPr marL="457200" lvl="0" indent="0" algn="l" rtl="0">
              <a:spcBef>
                <a:spcPts val="0"/>
              </a:spcBef>
              <a:spcAft>
                <a:spcPts val="0"/>
              </a:spcAft>
              <a:buNone/>
            </a:pPr>
            <a:r>
              <a:rPr lang="en" sz="2020" b="1">
                <a:solidFill>
                  <a:srgbClr val="000000"/>
                </a:solidFill>
              </a:rPr>
              <a:t>            &lt;h2&gt;User Id: {id}&lt;/h2&gt;</a:t>
            </a:r>
            <a:endParaRPr sz="2020" b="1">
              <a:solidFill>
                <a:srgbClr val="000000"/>
              </a:solidFill>
            </a:endParaRPr>
          </a:p>
          <a:p>
            <a:pPr marL="457200" lvl="0" indent="0" algn="l" rtl="0">
              <a:spcBef>
                <a:spcPts val="0"/>
              </a:spcBef>
              <a:spcAft>
                <a:spcPts val="0"/>
              </a:spcAft>
              <a:buNone/>
            </a:pPr>
            <a:r>
              <a:rPr lang="en" sz="2020" b="1">
                <a:solidFill>
                  <a:srgbClr val="000000"/>
                </a:solidFill>
              </a:rPr>
              <a:t>        &lt;/div&gt;</a:t>
            </a:r>
            <a:endParaRPr sz="2020" b="1">
              <a:solidFill>
                <a:srgbClr val="000000"/>
              </a:solidFill>
            </a:endParaRPr>
          </a:p>
          <a:p>
            <a:pPr marL="457200" lvl="0" indent="0" algn="l" rtl="0">
              <a:spcBef>
                <a:spcPts val="0"/>
              </a:spcBef>
              <a:spcAft>
                <a:spcPts val="0"/>
              </a:spcAft>
              <a:buNone/>
            </a:pPr>
            <a:r>
              <a:rPr lang="en" sz="2020" b="1">
                <a:solidFill>
                  <a:srgbClr val="000000"/>
                </a:solidFill>
              </a:rPr>
              <a:t>    );</a:t>
            </a:r>
            <a:endParaRPr sz="2020" b="1">
              <a:solidFill>
                <a:srgbClr val="000000"/>
              </a:solidFill>
            </a:endParaRPr>
          </a:p>
          <a:p>
            <a:pPr marL="457200" lvl="0" indent="0" algn="l" rtl="0">
              <a:spcBef>
                <a:spcPts val="0"/>
              </a:spcBef>
              <a:spcAft>
                <a:spcPts val="0"/>
              </a:spcAft>
              <a:buNone/>
            </a:pPr>
            <a:r>
              <a:rPr lang="en" sz="2020" b="1">
                <a:solidFill>
                  <a:srgbClr val="000000"/>
                </a:solidFill>
              </a:rPr>
              <a:t>}</a:t>
            </a:r>
            <a:endParaRPr sz="2020" b="1">
              <a:solidFill>
                <a:srgbClr val="000000"/>
              </a:solidFill>
            </a:endParaRPr>
          </a:p>
          <a:p>
            <a:pPr marL="457200" lvl="0" indent="0" algn="l" rtl="0">
              <a:spcBef>
                <a:spcPts val="0"/>
              </a:spcBef>
              <a:spcAft>
                <a:spcPts val="0"/>
              </a:spcAft>
              <a:buNone/>
            </a:pPr>
            <a:r>
              <a:rPr lang="en" sz="2020" b="1">
                <a:solidFill>
                  <a:srgbClr val="000000"/>
                </a:solidFill>
              </a:rPr>
              <a:t>export default GitHubUser;</a:t>
            </a:r>
            <a:endParaRPr sz="4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346769" y="403068"/>
            <a:ext cx="8429971" cy="4213902"/>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300" b="1" dirty="0">
                <a:solidFill>
                  <a:srgbClr val="38761D"/>
                </a:solidFill>
              </a:rPr>
              <a:t>Programmatic Navigation</a:t>
            </a:r>
            <a:endParaRPr sz="3300" b="1" dirty="0">
              <a:solidFill>
                <a:srgbClr val="38761D"/>
              </a:solidFill>
            </a:endParaRPr>
          </a:p>
          <a:p>
            <a:pPr marL="0" lvl="0" indent="0" algn="l" rtl="0">
              <a:spcBef>
                <a:spcPts val="0"/>
              </a:spcBef>
              <a:spcAft>
                <a:spcPts val="0"/>
              </a:spcAft>
              <a:buNone/>
            </a:pPr>
            <a:endParaRPr sz="1900" b="1" dirty="0">
              <a:solidFill>
                <a:srgbClr val="000000"/>
              </a:solidFill>
            </a:endParaRPr>
          </a:p>
          <a:p>
            <a:r>
              <a:rPr lang="en" sz="2100" b="1" dirty="0">
                <a:solidFill>
                  <a:srgbClr val="000000"/>
                </a:solidFill>
              </a:rPr>
              <a:t>Programmatic navigation refers to changing the route or URL of a web application through code, rather than relying on user interactions like clicking links. This is useful for navigating between pages or routes based on application logic or user actions beyond simple link clicks.</a:t>
            </a:r>
            <a:br>
              <a:rPr lang="en" sz="2100" b="1" dirty="0">
                <a:solidFill>
                  <a:srgbClr val="000000"/>
                </a:solidFill>
              </a:rPr>
            </a:br>
            <a:br>
              <a:rPr lang="en" sz="2100" b="1" dirty="0">
                <a:solidFill>
                  <a:srgbClr val="000000"/>
                </a:solidFill>
              </a:rPr>
            </a:br>
            <a:r>
              <a:rPr lang="en-ZA" sz="2400" b="1" dirty="0">
                <a:solidFill>
                  <a:srgbClr val="38761D"/>
                </a:solidFill>
              </a:rPr>
              <a:t>Explanation for the Code Below:</a:t>
            </a:r>
            <a:br>
              <a:rPr lang="en" sz="2100" b="1" dirty="0">
                <a:solidFill>
                  <a:srgbClr val="000000"/>
                </a:solidFill>
              </a:rPr>
            </a:br>
            <a:r>
              <a:rPr lang="en-ZA" sz="2100" b="1" dirty="0">
                <a:solidFill>
                  <a:schemeClr val="tx2">
                    <a:lumMod val="10000"/>
                  </a:schemeClr>
                </a:solidFill>
              </a:rPr>
              <a:t>If you are using React Router 6, </a:t>
            </a:r>
            <a:r>
              <a:rPr lang="en-ZA" sz="2100" b="1" dirty="0" err="1">
                <a:solidFill>
                  <a:srgbClr val="38761D"/>
                </a:solidFill>
              </a:rPr>
              <a:t>useHistory</a:t>
            </a:r>
            <a:r>
              <a:rPr lang="en-ZA" sz="2100" b="1" dirty="0">
                <a:solidFill>
                  <a:schemeClr val="tx2">
                    <a:lumMod val="10000"/>
                  </a:schemeClr>
                </a:solidFill>
              </a:rPr>
              <a:t> has been replaced by </a:t>
            </a:r>
            <a:r>
              <a:rPr lang="en-ZA" sz="2100" b="1" dirty="0" err="1">
                <a:solidFill>
                  <a:srgbClr val="38761D"/>
                </a:solidFill>
              </a:rPr>
              <a:t>useNavigate</a:t>
            </a:r>
            <a:r>
              <a:rPr lang="en-ZA" sz="2100" b="1" dirty="0">
                <a:solidFill>
                  <a:schemeClr val="tx2">
                    <a:lumMod val="10000"/>
                  </a:schemeClr>
                </a:solidFill>
              </a:rPr>
              <a:t>. The </a:t>
            </a:r>
            <a:r>
              <a:rPr lang="en-ZA" sz="2100" b="1" dirty="0" err="1">
                <a:solidFill>
                  <a:srgbClr val="38761D"/>
                </a:solidFill>
              </a:rPr>
              <a:t>useNavigate</a:t>
            </a:r>
            <a:r>
              <a:rPr lang="en-ZA" sz="2100" b="1" dirty="0">
                <a:solidFill>
                  <a:schemeClr val="tx2">
                    <a:lumMod val="10000"/>
                  </a:schemeClr>
                </a:solidFill>
              </a:rPr>
              <a:t> hook is used to navigate within your application. The </a:t>
            </a:r>
            <a:r>
              <a:rPr lang="en-ZA" sz="2100" b="1" dirty="0" err="1">
                <a:solidFill>
                  <a:srgbClr val="38761D"/>
                </a:solidFill>
              </a:rPr>
              <a:t>handleClick</a:t>
            </a:r>
            <a:r>
              <a:rPr lang="en-ZA" sz="2100" b="1" dirty="0">
                <a:solidFill>
                  <a:schemeClr val="tx2">
                    <a:lumMod val="10000"/>
                  </a:schemeClr>
                </a:solidFill>
              </a:rPr>
              <a:t> function redirects the user to the /</a:t>
            </a:r>
            <a:r>
              <a:rPr lang="en-ZA" sz="2100" b="1" dirty="0" err="1">
                <a:solidFill>
                  <a:schemeClr val="tx2">
                    <a:lumMod val="10000"/>
                  </a:schemeClr>
                </a:solidFill>
              </a:rPr>
              <a:t>github</a:t>
            </a:r>
            <a:r>
              <a:rPr lang="en-ZA" sz="2100" b="1" dirty="0">
                <a:solidFill>
                  <a:schemeClr val="tx2">
                    <a:lumMod val="10000"/>
                  </a:schemeClr>
                </a:solidFill>
              </a:rPr>
              <a:t> route. The &lt;Button&gt; component, when clicked, triggers this </a:t>
            </a:r>
            <a:r>
              <a:rPr lang="en-ZA" sz="2100" b="1" dirty="0" err="1">
                <a:solidFill>
                  <a:srgbClr val="38761D"/>
                </a:solidFill>
              </a:rPr>
              <a:t>handleClick</a:t>
            </a:r>
            <a:r>
              <a:rPr lang="en-ZA" sz="2100" b="1" dirty="0">
                <a:solidFill>
                  <a:schemeClr val="tx2">
                    <a:lumMod val="10000"/>
                  </a:schemeClr>
                </a:solidFill>
              </a:rPr>
              <a:t> function to perform the navigation.</a:t>
            </a:r>
            <a:br>
              <a:rPr lang="en-ZA" sz="2100" dirty="0"/>
            </a:br>
            <a:endParaRPr sz="2100" b="1" dirty="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350150" y="332750"/>
            <a:ext cx="7840500" cy="4419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1644" b="1">
                <a:solidFill>
                  <a:srgbClr val="000000"/>
                </a:solidFill>
              </a:rPr>
              <a:t>function GitHubUser() {</a:t>
            </a:r>
            <a:endParaRPr sz="1644" b="1">
              <a:solidFill>
                <a:srgbClr val="000000"/>
              </a:solidFill>
            </a:endParaRPr>
          </a:p>
          <a:p>
            <a:pPr marL="0" lvl="0" indent="0" algn="l" rtl="0">
              <a:spcBef>
                <a:spcPts val="0"/>
              </a:spcBef>
              <a:spcAft>
                <a:spcPts val="0"/>
              </a:spcAft>
              <a:buNone/>
            </a:pPr>
            <a:r>
              <a:rPr lang="en" sz="1644" b="1">
                <a:solidFill>
                  <a:srgbClr val="000000"/>
                </a:solidFill>
              </a:rPr>
              <a:t>    const { id, login } = useParams();</a:t>
            </a:r>
            <a:endParaRPr sz="1644" b="1">
              <a:solidFill>
                <a:srgbClr val="000000"/>
              </a:solidFill>
            </a:endParaRPr>
          </a:p>
          <a:p>
            <a:pPr marL="0" lvl="0" indent="0" algn="l" rtl="0">
              <a:spcBef>
                <a:spcPts val="0"/>
              </a:spcBef>
              <a:spcAft>
                <a:spcPts val="0"/>
              </a:spcAft>
              <a:buNone/>
            </a:pPr>
            <a:r>
              <a:rPr lang="en" sz="1644" b="1">
                <a:solidFill>
                  <a:srgbClr val="000000"/>
                </a:solidFill>
              </a:rPr>
              <a:t>    const navigate = useNavigate();</a:t>
            </a:r>
            <a:endParaRPr sz="1644" b="1">
              <a:solidFill>
                <a:srgbClr val="000000"/>
              </a:solidFill>
            </a:endParaRPr>
          </a:p>
          <a:p>
            <a:pPr marL="0" lvl="0" indent="0" algn="l" rtl="0">
              <a:spcBef>
                <a:spcPts val="0"/>
              </a:spcBef>
              <a:spcAft>
                <a:spcPts val="0"/>
              </a:spcAft>
              <a:buNone/>
            </a:pPr>
            <a:endParaRPr sz="1644" b="1">
              <a:solidFill>
                <a:srgbClr val="000000"/>
              </a:solidFill>
            </a:endParaRPr>
          </a:p>
          <a:p>
            <a:pPr marL="0" lvl="0" indent="0" algn="l" rtl="0">
              <a:spcBef>
                <a:spcPts val="0"/>
              </a:spcBef>
              <a:spcAft>
                <a:spcPts val="0"/>
              </a:spcAft>
              <a:buNone/>
            </a:pPr>
            <a:r>
              <a:rPr lang="en" sz="1644" b="1">
                <a:solidFill>
                  <a:srgbClr val="000000"/>
                </a:solidFill>
              </a:rPr>
              <a:t>    const handleClick = () =&gt; {</a:t>
            </a:r>
            <a:endParaRPr sz="1644" b="1">
              <a:solidFill>
                <a:srgbClr val="000000"/>
              </a:solidFill>
            </a:endParaRPr>
          </a:p>
          <a:p>
            <a:pPr marL="0" lvl="0" indent="0" algn="l" rtl="0">
              <a:spcBef>
                <a:spcPts val="0"/>
              </a:spcBef>
              <a:spcAft>
                <a:spcPts val="0"/>
              </a:spcAft>
              <a:buNone/>
            </a:pPr>
            <a:r>
              <a:rPr lang="en" sz="1644" b="1">
                <a:solidFill>
                  <a:srgbClr val="000000"/>
                </a:solidFill>
              </a:rPr>
              <a:t>        navigate("/github")</a:t>
            </a:r>
            <a:endParaRPr sz="1644" b="1">
              <a:solidFill>
                <a:srgbClr val="000000"/>
              </a:solidFill>
            </a:endParaRPr>
          </a:p>
          <a:p>
            <a:pPr marL="0" lvl="0" indent="0" algn="l" rtl="0">
              <a:spcBef>
                <a:spcPts val="0"/>
              </a:spcBef>
              <a:spcAft>
                <a:spcPts val="0"/>
              </a:spcAft>
              <a:buNone/>
            </a:pPr>
            <a:r>
              <a:rPr lang="en" sz="1644" b="1">
                <a:solidFill>
                  <a:srgbClr val="000000"/>
                </a:solidFill>
              </a:rPr>
              <a:t>    }</a:t>
            </a:r>
            <a:endParaRPr sz="1644" b="1">
              <a:solidFill>
                <a:srgbClr val="000000"/>
              </a:solidFill>
            </a:endParaRPr>
          </a:p>
          <a:p>
            <a:pPr marL="0" lvl="0" indent="0" algn="l" rtl="0">
              <a:spcBef>
                <a:spcPts val="0"/>
              </a:spcBef>
              <a:spcAft>
                <a:spcPts val="0"/>
              </a:spcAft>
              <a:buNone/>
            </a:pPr>
            <a:r>
              <a:rPr lang="en" sz="1644" b="1">
                <a:solidFill>
                  <a:srgbClr val="000000"/>
                </a:solidFill>
              </a:rPr>
              <a:t>    return (</a:t>
            </a:r>
            <a:endParaRPr sz="1644" b="1">
              <a:solidFill>
                <a:srgbClr val="000000"/>
              </a:solidFill>
            </a:endParaRPr>
          </a:p>
          <a:p>
            <a:pPr marL="0" lvl="0" indent="0" algn="l" rtl="0">
              <a:spcBef>
                <a:spcPts val="0"/>
              </a:spcBef>
              <a:spcAft>
                <a:spcPts val="0"/>
              </a:spcAft>
              <a:buNone/>
            </a:pPr>
            <a:r>
              <a:rPr lang="en" sz="1644" b="1">
                <a:solidFill>
                  <a:srgbClr val="000000"/>
                </a:solidFill>
              </a:rPr>
              <a:t>        &lt;div&gt;</a:t>
            </a:r>
            <a:endParaRPr sz="1644" b="1">
              <a:solidFill>
                <a:srgbClr val="000000"/>
              </a:solidFill>
            </a:endParaRPr>
          </a:p>
          <a:p>
            <a:pPr marL="0" lvl="0" indent="0" algn="l" rtl="0">
              <a:spcBef>
                <a:spcPts val="0"/>
              </a:spcBef>
              <a:spcAft>
                <a:spcPts val="0"/>
              </a:spcAft>
              <a:buNone/>
            </a:pPr>
            <a:r>
              <a:rPr lang="en" sz="1644" b="1">
                <a:solidFill>
                  <a:srgbClr val="000000"/>
                </a:solidFill>
              </a:rPr>
              <a:t>            &lt;h1&gt;User Login: {login}&lt;/h1&gt;</a:t>
            </a:r>
            <a:endParaRPr sz="1644" b="1">
              <a:solidFill>
                <a:srgbClr val="000000"/>
              </a:solidFill>
            </a:endParaRPr>
          </a:p>
          <a:p>
            <a:pPr marL="0" lvl="0" indent="0" algn="l" rtl="0">
              <a:spcBef>
                <a:spcPts val="0"/>
              </a:spcBef>
              <a:spcAft>
                <a:spcPts val="0"/>
              </a:spcAft>
              <a:buNone/>
            </a:pPr>
            <a:r>
              <a:rPr lang="en" sz="1644" b="1">
                <a:solidFill>
                  <a:srgbClr val="000000"/>
                </a:solidFill>
              </a:rPr>
              <a:t>            &lt;h2&gt;User Id: {id}&lt;/h2&gt;</a:t>
            </a:r>
            <a:endParaRPr sz="1644" b="1">
              <a:solidFill>
                <a:srgbClr val="000000"/>
              </a:solidFill>
            </a:endParaRPr>
          </a:p>
          <a:p>
            <a:pPr marL="0" lvl="0" indent="0" algn="l" rtl="0">
              <a:spcBef>
                <a:spcPts val="0"/>
              </a:spcBef>
              <a:spcAft>
                <a:spcPts val="0"/>
              </a:spcAft>
              <a:buNone/>
            </a:pPr>
            <a:r>
              <a:rPr lang="en" sz="1644" b="1">
                <a:solidFill>
                  <a:srgbClr val="000000"/>
                </a:solidFill>
              </a:rPr>
              <a:t>            &lt;Button variant="primary" onClick={handleClick}&gt;</a:t>
            </a:r>
            <a:endParaRPr sz="1644" b="1">
              <a:solidFill>
                <a:srgbClr val="000000"/>
              </a:solidFill>
            </a:endParaRPr>
          </a:p>
          <a:p>
            <a:pPr marL="0" lvl="0" indent="0" algn="l" rtl="0">
              <a:spcBef>
                <a:spcPts val="0"/>
              </a:spcBef>
              <a:spcAft>
                <a:spcPts val="0"/>
              </a:spcAft>
              <a:buNone/>
            </a:pPr>
            <a:r>
              <a:rPr lang="en" sz="1644" b="1">
                <a:solidFill>
                  <a:srgbClr val="000000"/>
                </a:solidFill>
              </a:rPr>
              <a:t>                Go to GitHub Users</a:t>
            </a:r>
            <a:endParaRPr sz="1644" b="1">
              <a:solidFill>
                <a:srgbClr val="000000"/>
              </a:solidFill>
            </a:endParaRPr>
          </a:p>
          <a:p>
            <a:pPr marL="0" lvl="0" indent="0" algn="l" rtl="0">
              <a:spcBef>
                <a:spcPts val="0"/>
              </a:spcBef>
              <a:spcAft>
                <a:spcPts val="0"/>
              </a:spcAft>
              <a:buNone/>
            </a:pPr>
            <a:r>
              <a:rPr lang="en" sz="1644" b="1">
                <a:solidFill>
                  <a:srgbClr val="000000"/>
                </a:solidFill>
              </a:rPr>
              <a:t>            &lt;/Button&gt;</a:t>
            </a:r>
            <a:endParaRPr sz="1644" b="1">
              <a:solidFill>
                <a:srgbClr val="000000"/>
              </a:solidFill>
            </a:endParaRPr>
          </a:p>
          <a:p>
            <a:pPr marL="0" lvl="0" indent="0" algn="l" rtl="0">
              <a:spcBef>
                <a:spcPts val="0"/>
              </a:spcBef>
              <a:spcAft>
                <a:spcPts val="0"/>
              </a:spcAft>
              <a:buNone/>
            </a:pPr>
            <a:r>
              <a:rPr lang="en" sz="1644" b="1">
                <a:solidFill>
                  <a:srgbClr val="000000"/>
                </a:solidFill>
              </a:rPr>
              <a:t>        &lt;/div&gt;</a:t>
            </a:r>
            <a:endParaRPr sz="1644" b="1">
              <a:solidFill>
                <a:srgbClr val="000000"/>
              </a:solidFill>
            </a:endParaRPr>
          </a:p>
          <a:p>
            <a:pPr marL="0" lvl="0" indent="0" algn="l" rtl="0">
              <a:spcBef>
                <a:spcPts val="0"/>
              </a:spcBef>
              <a:spcAft>
                <a:spcPts val="0"/>
              </a:spcAft>
              <a:buNone/>
            </a:pPr>
            <a:r>
              <a:rPr lang="en" sz="1644" b="1">
                <a:solidFill>
                  <a:srgbClr val="000000"/>
                </a:solidFill>
              </a:rPr>
              <a:t>    );</a:t>
            </a:r>
            <a:endParaRPr sz="1644" b="1">
              <a:solidFill>
                <a:srgbClr val="000000"/>
              </a:solidFill>
            </a:endParaRPr>
          </a:p>
          <a:p>
            <a:pPr marL="0" lvl="0" indent="0" algn="l" rtl="0">
              <a:spcBef>
                <a:spcPts val="0"/>
              </a:spcBef>
              <a:spcAft>
                <a:spcPts val="0"/>
              </a:spcAft>
              <a:buNone/>
            </a:pPr>
            <a:r>
              <a:rPr lang="en" sz="1644" b="1">
                <a:solidFill>
                  <a:srgbClr val="000000"/>
                </a:solidFill>
              </a:rPr>
              <a:t>}</a:t>
            </a:r>
            <a:endParaRPr sz="1644" b="1">
              <a:solidFill>
                <a:srgbClr val="000000"/>
              </a:solidFill>
            </a:endParaRPr>
          </a:p>
          <a:p>
            <a:pPr marL="0" lvl="0" indent="0" algn="l" rtl="0">
              <a:spcBef>
                <a:spcPts val="0"/>
              </a:spcBef>
              <a:spcAft>
                <a:spcPts val="0"/>
              </a:spcAft>
              <a:buNone/>
            </a:pPr>
            <a:r>
              <a:rPr lang="en" sz="1644" b="1">
                <a:solidFill>
                  <a:srgbClr val="000000"/>
                </a:solidFill>
              </a:rPr>
              <a:t>export default GitHubUser;</a:t>
            </a:r>
            <a:endParaRPr sz="1644" b="1">
              <a:solidFill>
                <a:srgbClr val="000000"/>
              </a:solidFill>
            </a:endParaRPr>
          </a:p>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3"/>
          <p:cNvSpPr txBox="1">
            <a:spLocks noGrp="1"/>
          </p:cNvSpPr>
          <p:nvPr>
            <p:ph type="ctrTitle"/>
          </p:nvPr>
        </p:nvSpPr>
        <p:spPr>
          <a:xfrm>
            <a:off x="926475" y="1822825"/>
            <a:ext cx="7524900" cy="1465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6000" b="1">
                <a:solidFill>
                  <a:srgbClr val="000000"/>
                </a:solidFill>
              </a:rPr>
              <a:t>End Of Chapter 8</a:t>
            </a:r>
            <a:endParaRPr sz="6000" b="1">
              <a:solidFill>
                <a:srgbClr val="000000"/>
              </a:solidFill>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881</Words>
  <Application>Microsoft Office PowerPoint</Application>
  <PresentationFormat>On-screen Show (16:9)</PresentationFormat>
  <Paragraphs>75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Nunito</vt:lpstr>
      <vt:lpstr>Calibri</vt:lpstr>
      <vt:lpstr>Shift</vt:lpstr>
      <vt:lpstr>Beginning React</vt:lpstr>
      <vt:lpstr>Chapter 8: Routing  Brief Summary of Chapter 8 What is Routing Types of Routers Navigation Bar Link Route Parameters  Programmatic Navigation</vt:lpstr>
      <vt:lpstr>What is Routing?  Routing is the process of directing users to different parts of an application based on the URL they request. In a web application, it maps URLs to specific views or components, allowing users to navigate between different sections or pages without reloading the entire page. This enables seamless transitions and maintains the application’s state and history.  After installing the react-router-dom library, we need to define our routes. Each route is an endpoint that can be entered into the browser’s location bar. When a route is requested, we can render the appropriate content. (npm install --save react-router-dom)</vt:lpstr>
      <vt:lpstr>Types of Routers  BrowserRouter: manages routing by using the HTML5 history API. It contains `Route` components that map URL paths to specific components. When the browser’s URL matches a route's path, the associated component is rendered.  HashRouter: Uses URL hash fragments (e.g., example.com/#/page) for routing. Ideal for applications where you can't configure the server or need support for older browsers.  MemoryRouter: Keeps routing state in memory, making it useful for testing or non-URL-based routing scenarios, such as mobile apps or server-side rendering.  StaticRouter: Used in server-side rendering to handle routing based on the request URL without relying on browser history. It provides a static routing configuration. </vt:lpstr>
      <vt:lpstr>Notes: You import Route to define URL paths and specify which components should be rendered for those paths in your React application. You import Routes instead of Switch because Routes is the updated component in the latest version of react-router-dom (v6 and above) for handling routing.  Make use of element instead of component: &lt;Route path="/github" element={&lt;GitHub /&gt;} /&gt;</vt:lpstr>
      <vt:lpstr>Navigation Bar Link  Navigation bar links in a web application are clickable elements that allow users to move between different sections or pages. In React, you typically use components from react-router-dom to create these links.   Navbar: navbar is a layout component that uses routing links (Link and NavLink) to enable navigation between different routes in your application.  Link: Provides basic navigation by changing the URL and rendering the associated component.  NavLink: Similar to Link, but with additional features for applying active styles or classes based on the current route. </vt:lpstr>
      <vt:lpstr>Route Parameters   Route parameters are placeholders in a URL that allow you to capture and use dynamic values within your routes. They are useful for creating routes that depend on variable data, such as user IDs, article slugs, or any other dynamic segment.  Explanation for the Code Below: A hook in React is a special function that lets you use features like state and lifecycle methods in function components. useParams is a hook provided by the React Router library, it is used to access route parameters from the URL.   The code creates a function GitHubUser which is a React component that retrieves user information from the URL parameters using useParams. It retrieves the id and login values from these parameters and displays them. The component renders and returns the users information.</vt:lpstr>
      <vt:lpstr>Within GitHubUser File , Test out the first code then the second:  import { useParams, useNavigate } from 'react-router-dom';  function GitHubUser() {     const { id, login } = useParams();     return (         &lt;div&gt;             &lt;h1&gt;User Login: {login}&lt;/h1&gt;             &lt;h2&gt;User Id: {id}&lt;/h2&gt;         &lt;/div&gt;     ); } export default GitHubUser;</vt:lpstr>
      <vt:lpstr>Programmatic Navigation  Programmatic navigation refers to changing the route or URL of a web application through code, rather than relying on user interactions like clicking links. This is useful for navigating between pages or routes based on application logic or user actions beyond simple link clicks.  Explanation for the Code Below: If you are using React Router 6, useHistory has been replaced by useNavigate. The useNavigate hook is used to navigate within your application. The handleClick function redirects the user to the /github route. The &lt;Button&gt; component, when clicked, triggers this handleClick function to perform the navigation. </vt:lpstr>
      <vt:lpstr>function GitHubUser() {     const { id, login } = useParams();     const navigate = useNavigate();      const handleClick = () =&gt; {         navigate("/github")     }     return (         &lt;div&gt;             &lt;h1&gt;User Login: {login}&lt;/h1&gt;             &lt;h2&gt;User Id: {id}&lt;/h2&gt;             &lt;Button variant="primary" onClick={handleClick}&gt;                 Go to GitHub Users             &lt;/Button&gt;         &lt;/div&gt;     ); } export default GitHubUser; </vt:lpstr>
      <vt:lpstr>End Of Chapter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Beginning React</dc:title>
  <cp:lastModifiedBy>ST MARY'S P/S</cp:lastModifiedBy>
  <cp:revision>2</cp:revision>
  <dcterms:modified xsi:type="dcterms:W3CDTF">2024-08-13T19:07:26Z</dcterms:modified>
</cp:coreProperties>
</file>