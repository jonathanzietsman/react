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Nuni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bold.fntdata"/><Relationship Id="rId12" Type="http://schemas.openxmlformats.org/officeDocument/2006/relationships/font" Target="fonts/Nuni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Italic.fntdata"/><Relationship Id="rId14"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f292c934fb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f292c934fb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f292c934f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f292c934f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f292c934fb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f292c934fb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292c934fb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292c934fb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f292c934fb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f292c934fb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361450" y="1822825"/>
            <a:ext cx="6829200" cy="1432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000000"/>
                </a:solidFill>
              </a:rPr>
              <a:t>Beginning React</a:t>
            </a:r>
            <a:endParaRPr b="1" sz="60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752500" y="667675"/>
            <a:ext cx="7851300" cy="3479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Chapter 2</a:t>
            </a:r>
            <a:endParaRPr b="1">
              <a:solidFill>
                <a:srgbClr val="38761D"/>
              </a:solidFill>
            </a:endParaRPr>
          </a:p>
          <a:p>
            <a:pPr indent="0" lvl="0" marL="0" rtl="0" algn="ctr">
              <a:spcBef>
                <a:spcPts val="0"/>
              </a:spcBef>
              <a:spcAft>
                <a:spcPts val="0"/>
              </a:spcAft>
              <a:buNone/>
            </a:pPr>
            <a:r>
              <a:rPr b="1" lang="en">
                <a:solidFill>
                  <a:srgbClr val="38761D"/>
                </a:solidFill>
              </a:rPr>
              <a:t>Creating And Using Components</a:t>
            </a:r>
            <a:endParaRPr b="1">
              <a:solidFill>
                <a:srgbClr val="38761D"/>
              </a:solidFill>
            </a:endParaRPr>
          </a:p>
          <a:p>
            <a:pPr indent="0" lvl="0" marL="0" rtl="0" algn="l">
              <a:spcBef>
                <a:spcPts val="0"/>
              </a:spcBef>
              <a:spcAft>
                <a:spcPts val="0"/>
              </a:spcAft>
              <a:buNone/>
            </a:pPr>
            <a:r>
              <a:t/>
            </a:r>
            <a:endParaRPr b="1">
              <a:solidFill>
                <a:srgbClr val="38761D"/>
              </a:solidFill>
            </a:endParaRPr>
          </a:p>
          <a:p>
            <a:pPr indent="0" lvl="0" marL="0" rtl="0" algn="l">
              <a:spcBef>
                <a:spcPts val="0"/>
              </a:spcBef>
              <a:spcAft>
                <a:spcPts val="0"/>
              </a:spcAft>
              <a:buNone/>
            </a:pPr>
            <a:r>
              <a:rPr b="1" lang="en">
                <a:solidFill>
                  <a:srgbClr val="000000"/>
                </a:solidFill>
              </a:rPr>
              <a:t>Brief Summary Of Chapter 2</a:t>
            </a:r>
            <a:endParaRPr b="1">
              <a:solidFill>
                <a:srgbClr val="000000"/>
              </a:solidFill>
            </a:endParaRPr>
          </a:p>
          <a:p>
            <a:pPr indent="-400050" lvl="0" marL="457200" rtl="0" algn="l">
              <a:spcBef>
                <a:spcPts val="0"/>
              </a:spcBef>
              <a:spcAft>
                <a:spcPts val="0"/>
              </a:spcAft>
              <a:buClr>
                <a:srgbClr val="000000"/>
              </a:buClr>
              <a:buSzPts val="2700"/>
              <a:buChar char="●"/>
            </a:pPr>
            <a:r>
              <a:rPr lang="en" sz="2700">
                <a:solidFill>
                  <a:srgbClr val="000000"/>
                </a:solidFill>
              </a:rPr>
              <a:t>Create a Component</a:t>
            </a:r>
            <a:endParaRPr sz="2700">
              <a:solidFill>
                <a:srgbClr val="000000"/>
              </a:solidFill>
            </a:endParaRPr>
          </a:p>
          <a:p>
            <a:pPr indent="-400050" lvl="0" marL="457200" rtl="0" algn="l">
              <a:spcBef>
                <a:spcPts val="0"/>
              </a:spcBef>
              <a:spcAft>
                <a:spcPts val="0"/>
              </a:spcAft>
              <a:buClr>
                <a:srgbClr val="000000"/>
              </a:buClr>
              <a:buSzPts val="2700"/>
              <a:buChar char="●"/>
            </a:pPr>
            <a:r>
              <a:rPr lang="en" sz="2700">
                <a:solidFill>
                  <a:srgbClr val="000000"/>
                </a:solidFill>
              </a:rPr>
              <a:t>Embedding Expressions in JSX</a:t>
            </a:r>
            <a:endParaRPr sz="2700">
              <a:solidFill>
                <a:srgbClr val="000000"/>
              </a:solidFill>
            </a:endParaRPr>
          </a:p>
          <a:p>
            <a:pPr indent="-400050" lvl="0" marL="457200" rtl="0" algn="l">
              <a:spcBef>
                <a:spcPts val="0"/>
              </a:spcBef>
              <a:spcAft>
                <a:spcPts val="0"/>
              </a:spcAft>
              <a:buClr>
                <a:srgbClr val="000000"/>
              </a:buClr>
              <a:buSzPts val="2700"/>
              <a:buChar char="●"/>
            </a:pPr>
            <a:r>
              <a:rPr lang="en" sz="2700">
                <a:solidFill>
                  <a:srgbClr val="000000"/>
                </a:solidFill>
              </a:rPr>
              <a:t>What is a key attribute</a:t>
            </a:r>
            <a:endParaRPr sz="27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type="title"/>
          </p:nvPr>
        </p:nvSpPr>
        <p:spPr>
          <a:xfrm>
            <a:off x="586650" y="493700"/>
            <a:ext cx="7970700" cy="3175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Create a Component</a:t>
            </a:r>
            <a:endParaRPr b="1">
              <a:solidFill>
                <a:srgbClr val="38761D"/>
              </a:solidFill>
            </a:endParaRPr>
          </a:p>
          <a:p>
            <a:pPr indent="0" lvl="0" marL="0" rtl="0" algn="l">
              <a:spcBef>
                <a:spcPts val="0"/>
              </a:spcBef>
              <a:spcAft>
                <a:spcPts val="0"/>
              </a:spcAft>
              <a:buNone/>
            </a:pPr>
            <a:r>
              <a:t/>
            </a:r>
            <a:endParaRPr b="1" sz="1200">
              <a:solidFill>
                <a:srgbClr val="38761D"/>
              </a:solidFill>
            </a:endParaRPr>
          </a:p>
          <a:p>
            <a:pPr indent="0" lvl="0" marL="0" rtl="0" algn="l">
              <a:spcBef>
                <a:spcPts val="0"/>
              </a:spcBef>
              <a:spcAft>
                <a:spcPts val="0"/>
              </a:spcAft>
              <a:buNone/>
            </a:pPr>
            <a:r>
              <a:rPr b="1" lang="en" sz="1944">
                <a:solidFill>
                  <a:srgbClr val="000000"/>
                </a:solidFill>
              </a:rPr>
              <a:t>In React, creating components in the src folder and naming files as components helps organize code, promotes reusability, and maintains modularity. This structure makes it easier to manage, maintain, and scale your application by keeping each piece of the UI and its logic in separate, manageable files.</a:t>
            </a:r>
            <a:endParaRPr b="1" sz="1944">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ph type="title"/>
          </p:nvPr>
        </p:nvSpPr>
        <p:spPr>
          <a:xfrm>
            <a:off x="640950" y="704250"/>
            <a:ext cx="7862100" cy="306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Embedding Expressions in JSX</a:t>
            </a:r>
            <a:endParaRPr b="1">
              <a:solidFill>
                <a:srgbClr val="38761D"/>
              </a:solidFill>
            </a:endParaRPr>
          </a:p>
          <a:p>
            <a:pPr indent="0" lvl="0" marL="0" rtl="0" algn="l">
              <a:spcBef>
                <a:spcPts val="0"/>
              </a:spcBef>
              <a:spcAft>
                <a:spcPts val="0"/>
              </a:spcAft>
              <a:buNone/>
            </a:pPr>
            <a:r>
              <a:t/>
            </a:r>
            <a:endParaRPr b="1" sz="1400">
              <a:solidFill>
                <a:srgbClr val="38761D"/>
              </a:solidFill>
            </a:endParaRPr>
          </a:p>
          <a:p>
            <a:pPr indent="0" lvl="0" marL="0" rtl="0" algn="l">
              <a:spcBef>
                <a:spcPts val="0"/>
              </a:spcBef>
              <a:spcAft>
                <a:spcPts val="0"/>
              </a:spcAft>
              <a:buNone/>
            </a:pPr>
            <a:r>
              <a:rPr b="1" lang="en" sz="1900">
                <a:solidFill>
                  <a:srgbClr val="000000"/>
                </a:solidFill>
              </a:rPr>
              <a:t>Embedding expressions in JSX is important in React because it enables dynamic and interactive user interfaces. It allows you to directly integrate JavaScript logic into the UI, making it possible to display variable data, conditionally render elements, and perform real-time updates based on user interactions or state changes. This dynamic capability is crucial for creating responsive and engaging web applications.</a:t>
            </a:r>
            <a:endParaRPr b="1" sz="19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810150" y="628125"/>
            <a:ext cx="7804500" cy="3584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3333">
                <a:solidFill>
                  <a:srgbClr val="38761D"/>
                </a:solidFill>
              </a:rPr>
              <a:t>What is a key attribute</a:t>
            </a:r>
            <a:endParaRPr b="1" sz="3333">
              <a:solidFill>
                <a:srgbClr val="38761D"/>
              </a:solidFill>
            </a:endParaRPr>
          </a:p>
          <a:p>
            <a:pPr indent="0" lvl="0" marL="0" rtl="0" algn="l">
              <a:spcBef>
                <a:spcPts val="0"/>
              </a:spcBef>
              <a:spcAft>
                <a:spcPts val="0"/>
              </a:spcAft>
              <a:buNone/>
            </a:pPr>
            <a:r>
              <a:t/>
            </a:r>
            <a:endParaRPr b="1" sz="1500">
              <a:solidFill>
                <a:srgbClr val="38761D"/>
              </a:solidFill>
            </a:endParaRPr>
          </a:p>
          <a:p>
            <a:pPr indent="0" lvl="0" marL="0" rtl="0" algn="l">
              <a:spcBef>
                <a:spcPts val="0"/>
              </a:spcBef>
              <a:spcAft>
                <a:spcPts val="0"/>
              </a:spcAft>
              <a:buNone/>
            </a:pPr>
            <a:r>
              <a:rPr b="1" lang="en" sz="2122">
                <a:solidFill>
                  <a:srgbClr val="000000"/>
                </a:solidFill>
              </a:rPr>
              <a:t>In React, a key is a special attribute used to uniquely identify elements within a list. React relies on these keys to efficiently manage and update elements when the list changes. By assigning a unique key to each item, React can quickly determine which elements have been added, removed, or changed, which helps optimize rendering performance. This unique identification also ensures that elements retain their identity and state between renders, preventing issues like losing user input or incorrectly updating items.</a:t>
            </a:r>
            <a:endParaRPr b="1" sz="2122">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ph type="ctrTitle"/>
          </p:nvPr>
        </p:nvSpPr>
        <p:spPr>
          <a:xfrm>
            <a:off x="1296200" y="1822825"/>
            <a:ext cx="6818100" cy="1530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000000"/>
                </a:solidFill>
              </a:rPr>
              <a:t>End Of Chapter 2</a:t>
            </a:r>
            <a:endParaRPr b="1" sz="60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