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Nuni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fntdata"/><Relationship Id="rId14" Type="http://schemas.openxmlformats.org/officeDocument/2006/relationships/font" Target="fonts/Nunito-regular.fntdata"/><Relationship Id="rId17" Type="http://schemas.openxmlformats.org/officeDocument/2006/relationships/font" Target="fonts/Nunito-boldItalic.fntdata"/><Relationship Id="rId16"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f2713033b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f2713033b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2713033b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f2713033b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f2713033b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f2713033b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2713033b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2713033b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f2713033b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f2713033b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f2713033bf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f2713033bf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f2713033bf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f2713033bf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350575" y="1822825"/>
            <a:ext cx="6350700" cy="142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6000">
                <a:solidFill>
                  <a:srgbClr val="000000"/>
                </a:solidFill>
              </a:rPr>
              <a:t>Beginning React</a:t>
            </a:r>
            <a:endParaRPr b="1" sz="60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695400" y="689425"/>
            <a:ext cx="7753200" cy="3273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3200">
                <a:solidFill>
                  <a:srgbClr val="38761D"/>
                </a:solidFill>
              </a:rPr>
              <a:t>Chapter 10: Introduction To Redux</a:t>
            </a:r>
            <a:endParaRPr b="1" sz="3200">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a:solidFill>
                  <a:srgbClr val="000000"/>
                </a:solidFill>
              </a:rPr>
              <a:t>Brief Summary of Chapter 10</a:t>
            </a:r>
            <a:endParaRPr b="1">
              <a:solidFill>
                <a:srgbClr val="000000"/>
              </a:solidFill>
            </a:endParaRPr>
          </a:p>
          <a:p>
            <a:pPr indent="-385233" lvl="0" marL="457200" rtl="0" algn="l">
              <a:spcBef>
                <a:spcPts val="0"/>
              </a:spcBef>
              <a:spcAft>
                <a:spcPts val="0"/>
              </a:spcAft>
              <a:buClr>
                <a:srgbClr val="000000"/>
              </a:buClr>
              <a:buSzPts val="2467"/>
              <a:buChar char="●"/>
            </a:pPr>
            <a:r>
              <a:rPr lang="en" sz="2466">
                <a:solidFill>
                  <a:srgbClr val="000000"/>
                </a:solidFill>
              </a:rPr>
              <a:t>What is Redux?</a:t>
            </a:r>
            <a:endParaRPr sz="2466">
              <a:solidFill>
                <a:srgbClr val="000000"/>
              </a:solidFill>
            </a:endParaRPr>
          </a:p>
          <a:p>
            <a:pPr indent="-385233" lvl="0" marL="457200" rtl="0" algn="l">
              <a:spcBef>
                <a:spcPts val="0"/>
              </a:spcBef>
              <a:spcAft>
                <a:spcPts val="0"/>
              </a:spcAft>
              <a:buClr>
                <a:srgbClr val="000000"/>
              </a:buClr>
              <a:buSzPts val="2467"/>
              <a:buChar char="●"/>
            </a:pPr>
            <a:r>
              <a:rPr lang="en" sz="2466">
                <a:solidFill>
                  <a:srgbClr val="000000"/>
                </a:solidFill>
              </a:rPr>
              <a:t>Component State and Application State</a:t>
            </a:r>
            <a:endParaRPr sz="2466">
              <a:solidFill>
                <a:srgbClr val="000000"/>
              </a:solidFill>
            </a:endParaRPr>
          </a:p>
          <a:p>
            <a:pPr indent="-385233" lvl="0" marL="457200" rtl="0" algn="l">
              <a:spcBef>
                <a:spcPts val="0"/>
              </a:spcBef>
              <a:spcAft>
                <a:spcPts val="0"/>
              </a:spcAft>
              <a:buClr>
                <a:srgbClr val="000000"/>
              </a:buClr>
              <a:buSzPts val="2467"/>
              <a:buChar char="●"/>
            </a:pPr>
            <a:r>
              <a:rPr lang="en" sz="2466">
                <a:solidFill>
                  <a:srgbClr val="000000"/>
                </a:solidFill>
              </a:rPr>
              <a:t>Understanding Redux Flow</a:t>
            </a:r>
            <a:endParaRPr b="1" sz="31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type="title"/>
          </p:nvPr>
        </p:nvSpPr>
        <p:spPr>
          <a:xfrm>
            <a:off x="274025" y="254450"/>
            <a:ext cx="8601600" cy="45345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411">
                <a:solidFill>
                  <a:srgbClr val="38761D"/>
                </a:solidFill>
              </a:rPr>
              <a:t>What is Redux?</a:t>
            </a:r>
            <a:endParaRPr b="1" sz="2011">
              <a:solidFill>
                <a:srgbClr val="38761D"/>
              </a:solidFill>
            </a:endParaRPr>
          </a:p>
          <a:p>
            <a:pPr indent="0" lvl="0" marL="0" rtl="0" algn="ctr">
              <a:spcBef>
                <a:spcPts val="0"/>
              </a:spcBef>
              <a:spcAft>
                <a:spcPts val="0"/>
              </a:spcAft>
              <a:buNone/>
            </a:pPr>
            <a:r>
              <a:t/>
            </a:r>
            <a:endParaRPr b="1" sz="1900">
              <a:solidFill>
                <a:srgbClr val="38761D"/>
              </a:solidFill>
            </a:endParaRPr>
          </a:p>
          <a:p>
            <a:pPr indent="0" lvl="0" marL="0" rtl="0" algn="l">
              <a:spcBef>
                <a:spcPts val="0"/>
              </a:spcBef>
              <a:spcAft>
                <a:spcPts val="0"/>
              </a:spcAft>
              <a:buNone/>
            </a:pPr>
            <a:r>
              <a:rPr b="1" lang="en" sz="1955">
                <a:solidFill>
                  <a:srgbClr val="000000"/>
                </a:solidFill>
              </a:rPr>
              <a:t>Redux is a library used to manage the state in applications, especially those with complex data flows. It's useful for medium to large apps where multiple components need to share and sync data. In simpler apps, Redux can add unnecessary complexity. It helps solve issues where multiple views need to access and update the same data independently. Additionally, Redux is a standalone library that works with various frameworks (</a:t>
            </a:r>
            <a:r>
              <a:rPr b="1" lang="en" sz="1955">
                <a:solidFill>
                  <a:srgbClr val="38761D"/>
                </a:solidFill>
              </a:rPr>
              <a:t>like React, Angular, or Vue)</a:t>
            </a:r>
            <a:r>
              <a:rPr b="1" lang="en" sz="1955">
                <a:solidFill>
                  <a:srgbClr val="000000"/>
                </a:solidFill>
              </a:rPr>
              <a:t> and simplifies unit testing due to its functional programming approach.</a:t>
            </a:r>
            <a:endParaRPr b="1" sz="1955">
              <a:solidFill>
                <a:srgbClr val="000000"/>
              </a:solidFill>
            </a:endParaRPr>
          </a:p>
          <a:p>
            <a:pPr indent="0" lvl="0" marL="0" rtl="0" algn="l">
              <a:spcBef>
                <a:spcPts val="0"/>
              </a:spcBef>
              <a:spcAft>
                <a:spcPts val="0"/>
              </a:spcAft>
              <a:buNone/>
            </a:pPr>
            <a:r>
              <a:t/>
            </a:r>
            <a:endParaRPr b="1" sz="1955">
              <a:solidFill>
                <a:srgbClr val="000000"/>
              </a:solidFill>
            </a:endParaRPr>
          </a:p>
          <a:p>
            <a:pPr indent="0" lvl="0" marL="0" rtl="0" algn="l">
              <a:spcBef>
                <a:spcPts val="0"/>
              </a:spcBef>
              <a:spcAft>
                <a:spcPts val="0"/>
              </a:spcAft>
              <a:buNone/>
            </a:pPr>
            <a:r>
              <a:rPr b="1" lang="en" sz="1955">
                <a:solidFill>
                  <a:srgbClr val="000000"/>
                </a:solidFill>
              </a:rPr>
              <a:t>For instance, in Facebook, you have several independent views showing user messages (like the navigation bar icon, messages page, and chat tabs). Keeping these views in sync can be complex with multiple copies of the data. Redux helps manage this shared state efficiently, avoiding the mess of handling numerous events and unpredictable updates.</a:t>
            </a:r>
            <a:endParaRPr b="1" sz="1955">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274025" y="254450"/>
            <a:ext cx="8601600" cy="4534500"/>
          </a:xfrm>
          <a:prstGeom prst="rect">
            <a:avLst/>
          </a:prstGeom>
        </p:spPr>
        <p:txBody>
          <a:bodyPr anchorCtr="0" anchor="t" bIns="91425" lIns="91425" spcFirstLastPara="1" rIns="91425" wrap="square" tIns="91425">
            <a:normAutofit fontScale="90000"/>
          </a:bodyPr>
          <a:lstStyle/>
          <a:p>
            <a:pPr indent="0" lvl="0" marL="457200" rtl="0" algn="ctr">
              <a:spcBef>
                <a:spcPts val="0"/>
              </a:spcBef>
              <a:spcAft>
                <a:spcPts val="0"/>
              </a:spcAft>
              <a:buNone/>
            </a:pPr>
            <a:r>
              <a:rPr b="1" lang="en" sz="3400">
                <a:solidFill>
                  <a:srgbClr val="38761D"/>
                </a:solidFill>
              </a:rPr>
              <a:t>Component State and Application State</a:t>
            </a:r>
            <a:endParaRPr b="1" sz="2933">
              <a:solidFill>
                <a:srgbClr val="38761D"/>
              </a:solidFill>
            </a:endParaRPr>
          </a:p>
          <a:p>
            <a:pPr indent="0" lvl="0" marL="0" rtl="0" algn="ctr">
              <a:spcBef>
                <a:spcPts val="0"/>
              </a:spcBef>
              <a:spcAft>
                <a:spcPts val="0"/>
              </a:spcAft>
              <a:buNone/>
            </a:pPr>
            <a:r>
              <a:t/>
            </a:r>
            <a:endParaRPr b="1" sz="1900">
              <a:solidFill>
                <a:srgbClr val="38761D"/>
              </a:solidFill>
            </a:endParaRPr>
          </a:p>
          <a:p>
            <a:pPr indent="0" lvl="0" marL="0" rtl="0" algn="l">
              <a:spcBef>
                <a:spcPts val="0"/>
              </a:spcBef>
              <a:spcAft>
                <a:spcPts val="0"/>
              </a:spcAft>
              <a:buNone/>
            </a:pPr>
            <a:r>
              <a:rPr b="1" lang="en" sz="2177">
                <a:solidFill>
                  <a:srgbClr val="38761D"/>
                </a:solidFill>
              </a:rPr>
              <a:t>Component State:</a:t>
            </a:r>
            <a:endParaRPr b="1" sz="2177">
              <a:solidFill>
                <a:srgbClr val="38761D"/>
              </a:solidFill>
            </a:endParaRPr>
          </a:p>
          <a:p>
            <a:pPr indent="0" lvl="0" marL="0" rtl="0" algn="l">
              <a:spcBef>
                <a:spcPts val="0"/>
              </a:spcBef>
              <a:spcAft>
                <a:spcPts val="0"/>
              </a:spcAft>
              <a:buNone/>
            </a:pPr>
            <a:r>
              <a:rPr b="1" lang="en" sz="1977">
                <a:solidFill>
                  <a:srgbClr val="000000"/>
                </a:solidFill>
              </a:rPr>
              <a:t>This refers to the state managed within a single React component. It's used to handle data that changes over time within that specific component, such as user input or local UI changes. Component state is managed using the </a:t>
            </a:r>
            <a:r>
              <a:rPr b="1" lang="en" sz="1977">
                <a:solidFill>
                  <a:srgbClr val="38761D"/>
                </a:solidFill>
              </a:rPr>
              <a:t>useState hook</a:t>
            </a:r>
            <a:r>
              <a:rPr b="1" lang="en" sz="1977">
                <a:solidFill>
                  <a:srgbClr val="000000"/>
                </a:solidFill>
              </a:rPr>
              <a:t> (in functional components) or </a:t>
            </a:r>
            <a:r>
              <a:rPr b="1" lang="en" sz="1977">
                <a:solidFill>
                  <a:srgbClr val="38761D"/>
                </a:solidFill>
              </a:rPr>
              <a:t>this.state and this.setState</a:t>
            </a:r>
            <a:r>
              <a:rPr b="1" lang="en" sz="1977">
                <a:solidFill>
                  <a:srgbClr val="000000"/>
                </a:solidFill>
              </a:rPr>
              <a:t> (in class components).</a:t>
            </a:r>
            <a:endParaRPr b="1" sz="1977">
              <a:solidFill>
                <a:srgbClr val="000000"/>
              </a:solidFill>
            </a:endParaRPr>
          </a:p>
          <a:p>
            <a:pPr indent="0" lvl="0" marL="0" rtl="0" algn="l">
              <a:spcBef>
                <a:spcPts val="0"/>
              </a:spcBef>
              <a:spcAft>
                <a:spcPts val="0"/>
              </a:spcAft>
              <a:buNone/>
            </a:pPr>
            <a:r>
              <a:t/>
            </a:r>
            <a:endParaRPr b="1" sz="1977">
              <a:solidFill>
                <a:srgbClr val="000000"/>
              </a:solidFill>
            </a:endParaRPr>
          </a:p>
          <a:p>
            <a:pPr indent="0" lvl="0" marL="0" rtl="0" algn="l">
              <a:spcBef>
                <a:spcPts val="0"/>
              </a:spcBef>
              <a:spcAft>
                <a:spcPts val="0"/>
              </a:spcAft>
              <a:buNone/>
            </a:pPr>
            <a:r>
              <a:rPr b="1" lang="en" sz="2177">
                <a:solidFill>
                  <a:srgbClr val="38761D"/>
                </a:solidFill>
              </a:rPr>
              <a:t>Application State:</a:t>
            </a:r>
            <a:endParaRPr b="1" sz="2177">
              <a:solidFill>
                <a:srgbClr val="38761D"/>
              </a:solidFill>
            </a:endParaRPr>
          </a:p>
          <a:p>
            <a:pPr indent="0" lvl="0" marL="0" rtl="0" algn="l">
              <a:spcBef>
                <a:spcPts val="0"/>
              </a:spcBef>
              <a:spcAft>
                <a:spcPts val="0"/>
              </a:spcAft>
              <a:buNone/>
            </a:pPr>
            <a:r>
              <a:rPr b="1" lang="en" sz="1977">
                <a:solidFill>
                  <a:srgbClr val="000000"/>
                </a:solidFill>
              </a:rPr>
              <a:t>Refers to the global state that is shared across multiple components in the entire application. It includes data that affects various parts of the app, like user authentication status or application-wide settings. Managing application state often requires a state management library like Redux, Context API, or other state management solutions to keep data consistent and accessible throughout the app.</a:t>
            </a:r>
            <a:endParaRPr b="1" sz="1977">
              <a:solidFill>
                <a:srgbClr val="000000"/>
              </a:solidFill>
            </a:endParaRPr>
          </a:p>
          <a:p>
            <a:pPr indent="0" lvl="0" marL="0" rtl="0" algn="l">
              <a:spcBef>
                <a:spcPts val="0"/>
              </a:spcBef>
              <a:spcAft>
                <a:spcPts val="0"/>
              </a:spcAft>
              <a:buNone/>
            </a:pPr>
            <a:r>
              <a:t/>
            </a:r>
            <a:endParaRPr b="1" sz="1977">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274025" y="254450"/>
            <a:ext cx="8590500" cy="4610700"/>
          </a:xfrm>
          <a:prstGeom prst="rect">
            <a:avLst/>
          </a:prstGeom>
        </p:spPr>
        <p:txBody>
          <a:bodyPr anchorCtr="0" anchor="t" bIns="91425" lIns="91425" spcFirstLastPara="1" rIns="91425" wrap="square" tIns="91425">
            <a:normAutofit fontScale="90000"/>
          </a:bodyPr>
          <a:lstStyle/>
          <a:p>
            <a:pPr indent="0" lvl="0" marL="457200" rtl="0" algn="ctr">
              <a:spcBef>
                <a:spcPts val="0"/>
              </a:spcBef>
              <a:spcAft>
                <a:spcPts val="0"/>
              </a:spcAft>
              <a:buNone/>
            </a:pPr>
            <a:r>
              <a:rPr b="1" lang="en" sz="3366">
                <a:solidFill>
                  <a:srgbClr val="38761D"/>
                </a:solidFill>
              </a:rPr>
              <a:t>Understanding Redux Flow</a:t>
            </a:r>
            <a:endParaRPr b="1" sz="3366">
              <a:solidFill>
                <a:srgbClr val="38761D"/>
              </a:solidFill>
            </a:endParaRPr>
          </a:p>
          <a:p>
            <a:pPr indent="0" lvl="0" marL="0" rtl="0" algn="l">
              <a:spcBef>
                <a:spcPts val="0"/>
              </a:spcBef>
              <a:spcAft>
                <a:spcPts val="0"/>
              </a:spcAft>
              <a:buNone/>
            </a:pPr>
            <a:r>
              <a:t/>
            </a:r>
            <a:endParaRPr b="1" sz="1600">
              <a:solidFill>
                <a:srgbClr val="000000"/>
              </a:solidFill>
            </a:endParaRPr>
          </a:p>
          <a:p>
            <a:pPr indent="0" lvl="0" marL="0" rtl="0" algn="l">
              <a:spcBef>
                <a:spcPts val="0"/>
              </a:spcBef>
              <a:spcAft>
                <a:spcPts val="0"/>
              </a:spcAft>
              <a:buNone/>
            </a:pPr>
            <a:r>
              <a:rPr b="1" lang="en" sz="1933">
                <a:solidFill>
                  <a:srgbClr val="000000"/>
                </a:solidFill>
              </a:rPr>
              <a:t>In a React app, components manage state through a predictable process. Redux defines this process with a flow from actions to the reducer and then to the store, with components subscribing to state changes.</a:t>
            </a:r>
            <a:endParaRPr b="1" sz="1933">
              <a:solidFill>
                <a:srgbClr val="000000"/>
              </a:solidFill>
            </a:endParaRPr>
          </a:p>
          <a:p>
            <a:pPr indent="0" lvl="0" marL="0" rtl="0" algn="l">
              <a:spcBef>
                <a:spcPts val="0"/>
              </a:spcBef>
              <a:spcAft>
                <a:spcPts val="0"/>
              </a:spcAft>
              <a:buNone/>
            </a:pPr>
            <a:r>
              <a:t/>
            </a:r>
            <a:endParaRPr b="1" sz="1600">
              <a:solidFill>
                <a:srgbClr val="000000"/>
              </a:solidFill>
            </a:endParaRPr>
          </a:p>
          <a:p>
            <a:pPr indent="0" lvl="0" marL="0" rtl="0" algn="l">
              <a:spcBef>
                <a:spcPts val="0"/>
              </a:spcBef>
              <a:spcAft>
                <a:spcPts val="0"/>
              </a:spcAft>
              <a:buNone/>
            </a:pPr>
            <a:r>
              <a:rPr b="1" lang="en" sz="2266">
                <a:solidFill>
                  <a:srgbClr val="38761D"/>
                </a:solidFill>
              </a:rPr>
              <a:t>Actions:</a:t>
            </a:r>
            <a:endParaRPr b="1" sz="2266">
              <a:solidFill>
                <a:srgbClr val="38761D"/>
              </a:solidFill>
            </a:endParaRPr>
          </a:p>
          <a:p>
            <a:pPr indent="0" lvl="0" marL="0" rtl="0" algn="l">
              <a:spcBef>
                <a:spcPts val="0"/>
              </a:spcBef>
              <a:spcAft>
                <a:spcPts val="0"/>
              </a:spcAft>
              <a:buNone/>
            </a:pPr>
            <a:r>
              <a:rPr b="1" lang="en" sz="1933">
                <a:solidFill>
                  <a:srgbClr val="000000"/>
                </a:solidFill>
              </a:rPr>
              <a:t>Actions are data structures that describe changes to the state. They include a type (e.g., ‘Add Ingredient’) and optionally a payload with relevant data. Actions are the only way to update the state in Redux.</a:t>
            </a:r>
            <a:endParaRPr b="1" sz="1933">
              <a:solidFill>
                <a:srgbClr val="000000"/>
              </a:solidFill>
            </a:endParaRPr>
          </a:p>
          <a:p>
            <a:pPr indent="0" lvl="0" marL="0" rtl="0" algn="l">
              <a:spcBef>
                <a:spcPts val="0"/>
              </a:spcBef>
              <a:spcAft>
                <a:spcPts val="0"/>
              </a:spcAft>
              <a:buNone/>
            </a:pPr>
            <a:r>
              <a:t/>
            </a:r>
            <a:endParaRPr b="1" sz="1600">
              <a:solidFill>
                <a:srgbClr val="000000"/>
              </a:solidFill>
            </a:endParaRPr>
          </a:p>
          <a:p>
            <a:pPr indent="0" lvl="0" marL="0" rtl="0" algn="l">
              <a:spcBef>
                <a:spcPts val="0"/>
              </a:spcBef>
              <a:spcAft>
                <a:spcPts val="0"/>
              </a:spcAft>
              <a:buNone/>
            </a:pPr>
            <a:r>
              <a:rPr b="1" lang="en" sz="2266">
                <a:solidFill>
                  <a:srgbClr val="38761D"/>
                </a:solidFill>
              </a:rPr>
              <a:t>Reducer:</a:t>
            </a:r>
            <a:endParaRPr b="1" sz="2266">
              <a:solidFill>
                <a:srgbClr val="38761D"/>
              </a:solidFill>
            </a:endParaRPr>
          </a:p>
          <a:p>
            <a:pPr indent="0" lvl="0" marL="0" rtl="0" algn="l">
              <a:spcBef>
                <a:spcPts val="0"/>
              </a:spcBef>
              <a:spcAft>
                <a:spcPts val="0"/>
              </a:spcAft>
              <a:buNone/>
            </a:pPr>
            <a:r>
              <a:rPr b="1" lang="en" sz="1933">
                <a:solidFill>
                  <a:srgbClr val="000000"/>
                </a:solidFill>
              </a:rPr>
              <a:t>The reducer is a pure function that takes the current state and an action as arguments and returns a new state. It determines how the state should change in response to an action. For example, if an action is to add an ingredient, the reducer will handle this action and update the state accordingly.</a:t>
            </a:r>
            <a:endParaRPr b="1" sz="1933">
              <a:solidFill>
                <a:srgbClr val="000000"/>
              </a:solidFill>
            </a:endParaRPr>
          </a:p>
          <a:p>
            <a:pPr indent="0" lvl="0" marL="0" rtl="0" algn="l">
              <a:spcBef>
                <a:spcPts val="0"/>
              </a:spcBef>
              <a:spcAft>
                <a:spcPts val="0"/>
              </a:spcAft>
              <a:buNone/>
            </a:pPr>
            <a:r>
              <a:t/>
            </a:r>
            <a:endParaRPr b="1" sz="1711">
              <a:solidFill>
                <a:srgbClr val="000000"/>
              </a:solidFill>
            </a:endParaRPr>
          </a:p>
          <a:p>
            <a:pPr indent="0" lvl="0" marL="0" rtl="0" algn="l">
              <a:spcBef>
                <a:spcPts val="0"/>
              </a:spcBef>
              <a:spcAft>
                <a:spcPts val="0"/>
              </a:spcAft>
              <a:buNone/>
            </a:pPr>
            <a:r>
              <a:rPr b="1" lang="en" sz="2011">
                <a:solidFill>
                  <a:srgbClr val="000000"/>
                </a:solidFill>
              </a:rPr>
              <a:t> </a:t>
            </a:r>
            <a:endParaRPr b="1" sz="3066">
              <a:solidFill>
                <a:srgbClr val="000000"/>
              </a:solidFill>
            </a:endParaRPr>
          </a:p>
          <a:p>
            <a:pPr indent="0" lvl="0" marL="0" rtl="0" algn="ctr">
              <a:spcBef>
                <a:spcPts val="0"/>
              </a:spcBef>
              <a:spcAft>
                <a:spcPts val="0"/>
              </a:spcAft>
              <a:buNone/>
            </a:pPr>
            <a:r>
              <a:t/>
            </a:r>
            <a:endParaRPr b="1" sz="1900">
              <a:solidFill>
                <a:srgbClr val="38761D"/>
              </a:solidFill>
            </a:endParaRPr>
          </a:p>
          <a:p>
            <a:pPr indent="0" lvl="0" marL="0" rtl="0" algn="l">
              <a:spcBef>
                <a:spcPts val="0"/>
              </a:spcBef>
              <a:spcAft>
                <a:spcPts val="0"/>
              </a:spcAft>
              <a:buNone/>
            </a:pPr>
            <a:r>
              <a:t/>
            </a:r>
            <a:endParaRPr b="1" sz="1977">
              <a:solidFill>
                <a:srgbClr val="000000"/>
              </a:solidFill>
            </a:endParaRPr>
          </a:p>
          <a:p>
            <a:pPr indent="0" lvl="0" marL="0" rtl="0" algn="l">
              <a:spcBef>
                <a:spcPts val="0"/>
              </a:spcBef>
              <a:spcAft>
                <a:spcPts val="0"/>
              </a:spcAft>
              <a:buNone/>
            </a:pPr>
            <a:r>
              <a:t/>
            </a:r>
            <a:endParaRPr b="1" sz="1977">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405750" y="276200"/>
            <a:ext cx="8382900" cy="4501800"/>
          </a:xfrm>
          <a:prstGeom prst="rect">
            <a:avLst/>
          </a:prstGeom>
        </p:spPr>
        <p:txBody>
          <a:bodyPr anchorCtr="0" anchor="t" bIns="91425" lIns="91425" spcFirstLastPara="1" rIns="91425" wrap="square" tIns="91425">
            <a:normAutofit fontScale="90000"/>
          </a:bodyPr>
          <a:lstStyle/>
          <a:p>
            <a:pPr indent="0" lvl="0" marL="457200" rtl="0" algn="ctr">
              <a:spcBef>
                <a:spcPts val="0"/>
              </a:spcBef>
              <a:spcAft>
                <a:spcPts val="0"/>
              </a:spcAft>
              <a:buNone/>
            </a:pPr>
            <a:r>
              <a:rPr b="1" lang="en" sz="3366">
                <a:solidFill>
                  <a:srgbClr val="38761D"/>
                </a:solidFill>
              </a:rPr>
              <a:t>Understanding Redux Flow</a:t>
            </a:r>
            <a:endParaRPr b="1" sz="3366">
              <a:solidFill>
                <a:srgbClr val="38761D"/>
              </a:solidFill>
            </a:endParaRPr>
          </a:p>
          <a:p>
            <a:pPr indent="0" lvl="0" marL="0" rtl="0" algn="l">
              <a:spcBef>
                <a:spcPts val="0"/>
              </a:spcBef>
              <a:spcAft>
                <a:spcPts val="0"/>
              </a:spcAft>
              <a:buNone/>
            </a:pPr>
            <a:r>
              <a:t/>
            </a:r>
            <a:endParaRPr b="1" sz="1933">
              <a:solidFill>
                <a:srgbClr val="000000"/>
              </a:solidFill>
            </a:endParaRPr>
          </a:p>
          <a:p>
            <a:pPr indent="0" lvl="0" marL="0" rtl="0" algn="l">
              <a:spcBef>
                <a:spcPts val="0"/>
              </a:spcBef>
              <a:spcAft>
                <a:spcPts val="0"/>
              </a:spcAft>
              <a:buNone/>
            </a:pPr>
            <a:r>
              <a:rPr b="1" lang="en" sz="2288">
                <a:solidFill>
                  <a:srgbClr val="38761D"/>
                </a:solidFill>
              </a:rPr>
              <a:t>Store:</a:t>
            </a:r>
            <a:endParaRPr b="1" sz="2288">
              <a:solidFill>
                <a:srgbClr val="38761D"/>
              </a:solidFill>
            </a:endParaRPr>
          </a:p>
          <a:p>
            <a:pPr indent="0" lvl="0" marL="0" rtl="0" algn="l">
              <a:spcBef>
                <a:spcPts val="0"/>
              </a:spcBef>
              <a:spcAft>
                <a:spcPts val="0"/>
              </a:spcAft>
              <a:buNone/>
            </a:pPr>
            <a:r>
              <a:rPr b="1" lang="en" sz="1977">
                <a:solidFill>
                  <a:srgbClr val="000000"/>
                </a:solidFill>
              </a:rPr>
              <a:t>The store is a central object in Redux that holds the entire application state. It is created using Redux.createStore(reducer) and manages state updates by applying the reducer to actions dispatched to it. The store provides methods to access the current state, dispatch actions, and subscribe to state changes.</a:t>
            </a:r>
            <a:endParaRPr b="1" sz="1977">
              <a:solidFill>
                <a:srgbClr val="000000"/>
              </a:solidFill>
            </a:endParaRPr>
          </a:p>
          <a:p>
            <a:pPr indent="0" lvl="0" marL="0" rtl="0" algn="l">
              <a:spcBef>
                <a:spcPts val="0"/>
              </a:spcBef>
              <a:spcAft>
                <a:spcPts val="0"/>
              </a:spcAft>
              <a:buNone/>
            </a:pPr>
            <a:r>
              <a:t/>
            </a:r>
            <a:endParaRPr b="1" sz="1977">
              <a:solidFill>
                <a:srgbClr val="000000"/>
              </a:solidFill>
            </a:endParaRPr>
          </a:p>
          <a:p>
            <a:pPr indent="0" lvl="0" marL="0" rtl="0" algn="l">
              <a:spcBef>
                <a:spcPts val="0"/>
              </a:spcBef>
              <a:spcAft>
                <a:spcPts val="0"/>
              </a:spcAft>
              <a:buNone/>
            </a:pPr>
            <a:r>
              <a:rPr b="1" lang="en" sz="2311">
                <a:solidFill>
                  <a:srgbClr val="38761D"/>
                </a:solidFill>
              </a:rPr>
              <a:t>Store subscriptions:</a:t>
            </a:r>
            <a:endParaRPr b="1" sz="2311">
              <a:solidFill>
                <a:srgbClr val="38761D"/>
              </a:solidFill>
            </a:endParaRPr>
          </a:p>
          <a:p>
            <a:pPr indent="0" lvl="0" marL="0" rtl="0" algn="l">
              <a:spcBef>
                <a:spcPts val="0"/>
              </a:spcBef>
              <a:spcAft>
                <a:spcPts val="0"/>
              </a:spcAft>
              <a:buNone/>
            </a:pPr>
            <a:r>
              <a:rPr b="1" lang="en" sz="2200">
                <a:solidFill>
                  <a:srgbClr val="000000"/>
                </a:solidFill>
              </a:rPr>
              <a:t>Store subscriptions are a component of the Redux store. Once the store is updated, components receive the new state through this subscription model. The store automatically notifies subscribers of state changes, allowing components to respond to updates and re-render as necessary.</a:t>
            </a:r>
            <a:endParaRPr b="1" sz="3066">
              <a:solidFill>
                <a:srgbClr val="000000"/>
              </a:solidFill>
            </a:endParaRPr>
          </a:p>
          <a:p>
            <a:pPr indent="0" lvl="0" marL="0" rtl="0" algn="ctr">
              <a:spcBef>
                <a:spcPts val="0"/>
              </a:spcBef>
              <a:spcAft>
                <a:spcPts val="0"/>
              </a:spcAft>
              <a:buNone/>
            </a:pPr>
            <a:r>
              <a:t/>
            </a:r>
            <a:endParaRPr b="1" sz="1900">
              <a:solidFill>
                <a:srgbClr val="38761D"/>
              </a:solidFill>
            </a:endParaRPr>
          </a:p>
          <a:p>
            <a:pPr indent="0" lvl="0" marL="0" rtl="0" algn="l">
              <a:spcBef>
                <a:spcPts val="0"/>
              </a:spcBef>
              <a:spcAft>
                <a:spcPts val="0"/>
              </a:spcAft>
              <a:buNone/>
            </a:pPr>
            <a:r>
              <a:t/>
            </a:r>
            <a:endParaRPr b="1" sz="1977">
              <a:solidFill>
                <a:srgbClr val="000000"/>
              </a:solidFill>
            </a:endParaRPr>
          </a:p>
          <a:p>
            <a:pPr indent="0" lvl="0" marL="0" rtl="0" algn="l">
              <a:spcBef>
                <a:spcPts val="0"/>
              </a:spcBef>
              <a:spcAft>
                <a:spcPts val="0"/>
              </a:spcAft>
              <a:buNone/>
            </a:pPr>
            <a:r>
              <a:t/>
            </a:r>
            <a:endParaRPr b="1" sz="1977">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type="title"/>
          </p:nvPr>
        </p:nvSpPr>
        <p:spPr>
          <a:xfrm>
            <a:off x="293100" y="293550"/>
            <a:ext cx="8557800" cy="4556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066">
                <a:solidFill>
                  <a:srgbClr val="38761D"/>
                </a:solidFill>
              </a:rPr>
              <a:t>Note:</a:t>
            </a:r>
            <a:endParaRPr b="1" sz="3066">
              <a:solidFill>
                <a:srgbClr val="38761D"/>
              </a:solidFill>
            </a:endParaRPr>
          </a:p>
          <a:p>
            <a:pPr indent="-346710" lvl="0" marL="457200" rtl="0" algn="l">
              <a:spcBef>
                <a:spcPts val="0"/>
              </a:spcBef>
              <a:spcAft>
                <a:spcPts val="0"/>
              </a:spcAft>
              <a:buClr>
                <a:srgbClr val="000000"/>
              </a:buClr>
              <a:buSzPct val="100000"/>
              <a:buChar char="●"/>
            </a:pPr>
            <a:r>
              <a:rPr b="1" lang="en" sz="2066">
                <a:solidFill>
                  <a:srgbClr val="000000"/>
                </a:solidFill>
              </a:rPr>
              <a:t>When you create your </a:t>
            </a:r>
            <a:r>
              <a:rPr b="1" lang="en" sz="2066">
                <a:solidFill>
                  <a:srgbClr val="38761D"/>
                </a:solidFill>
              </a:rPr>
              <a:t>Persons.html</a:t>
            </a:r>
            <a:r>
              <a:rPr b="1" lang="en" sz="2066">
                <a:solidFill>
                  <a:srgbClr val="000000"/>
                </a:solidFill>
              </a:rPr>
              <a:t> file, replace </a:t>
            </a:r>
            <a:r>
              <a:rPr b="1" lang="en" sz="2066">
                <a:solidFill>
                  <a:srgbClr val="38761D"/>
                </a:solidFill>
              </a:rPr>
              <a:t>latest </a:t>
            </a:r>
            <a:r>
              <a:rPr b="1" lang="en" sz="2066">
                <a:solidFill>
                  <a:srgbClr val="000000"/>
                </a:solidFill>
              </a:rPr>
              <a:t>with </a:t>
            </a:r>
            <a:r>
              <a:rPr b="1" lang="en" sz="2066">
                <a:solidFill>
                  <a:srgbClr val="38761D"/>
                </a:solidFill>
              </a:rPr>
              <a:t>4.0.1</a:t>
            </a:r>
            <a:r>
              <a:rPr b="1" lang="en" sz="2066">
                <a:solidFill>
                  <a:srgbClr val="000000"/>
                </a:solidFill>
              </a:rPr>
              <a:t> in your &lt;script&gt; tag</a:t>
            </a:r>
            <a:endParaRPr b="1" sz="2066">
              <a:solidFill>
                <a:srgbClr val="000000"/>
              </a:solidFill>
            </a:endParaRPr>
          </a:p>
          <a:p>
            <a:pPr indent="-339089" lvl="0" marL="457200" rtl="0" algn="l">
              <a:spcBef>
                <a:spcPts val="0"/>
              </a:spcBef>
              <a:spcAft>
                <a:spcPts val="0"/>
              </a:spcAft>
              <a:buClr>
                <a:srgbClr val="000000"/>
              </a:buClr>
              <a:buSzPct val="100000"/>
              <a:buChar char="●"/>
            </a:pPr>
            <a:r>
              <a:rPr b="1" lang="en" sz="1933">
                <a:solidFill>
                  <a:srgbClr val="000000"/>
                </a:solidFill>
              </a:rPr>
              <a:t>Remember To remove the second </a:t>
            </a:r>
            <a:r>
              <a:rPr b="1" lang="en" sz="1933">
                <a:solidFill>
                  <a:srgbClr val="38761D"/>
                </a:solidFill>
              </a:rPr>
              <a:t>var store = Redux.createStore(reducer); </a:t>
            </a:r>
            <a:endParaRPr b="1" sz="1933">
              <a:solidFill>
                <a:srgbClr val="38761D"/>
              </a:solidFill>
            </a:endParaRPr>
          </a:p>
          <a:p>
            <a:pPr indent="0" lvl="0" marL="457200" rtl="0" algn="l">
              <a:spcBef>
                <a:spcPts val="0"/>
              </a:spcBef>
              <a:spcAft>
                <a:spcPts val="0"/>
              </a:spcAft>
              <a:buNone/>
            </a:pPr>
            <a:r>
              <a:t/>
            </a:r>
            <a:endParaRPr b="1" sz="1933">
              <a:solidFill>
                <a:srgbClr val="38761D"/>
              </a:solidFill>
            </a:endParaRPr>
          </a:p>
          <a:p>
            <a:pPr indent="0" lvl="0" marL="0" rtl="0" algn="l">
              <a:spcBef>
                <a:spcPts val="0"/>
              </a:spcBef>
              <a:spcAft>
                <a:spcPts val="0"/>
              </a:spcAft>
              <a:buNone/>
            </a:pPr>
            <a:r>
              <a:rPr b="1" lang="en" sz="2155">
                <a:solidFill>
                  <a:srgbClr val="38761D"/>
                </a:solidFill>
              </a:rPr>
              <a:t>Code must look like this under Function Reducer:</a:t>
            </a:r>
            <a:endParaRPr b="1" sz="2155">
              <a:solidFill>
                <a:srgbClr val="38761D"/>
              </a:solidFill>
            </a:endParaRPr>
          </a:p>
          <a:p>
            <a:pPr indent="0" lvl="0" marL="0" rtl="0" algn="l">
              <a:spcBef>
                <a:spcPts val="0"/>
              </a:spcBef>
              <a:spcAft>
                <a:spcPts val="0"/>
              </a:spcAft>
              <a:buNone/>
            </a:pPr>
            <a:r>
              <a:rPr b="1" lang="en" sz="1677">
                <a:solidFill>
                  <a:srgbClr val="1F1F1F"/>
                </a:solidFill>
              </a:rPr>
              <a:t>var store = Redux.createStore(reducer);</a:t>
            </a:r>
            <a:endParaRPr b="1" sz="1677">
              <a:solidFill>
                <a:srgbClr val="1F1F1F"/>
              </a:solidFill>
            </a:endParaRPr>
          </a:p>
          <a:p>
            <a:pPr indent="0" lvl="0" marL="0" rtl="0" algn="l">
              <a:spcBef>
                <a:spcPts val="0"/>
              </a:spcBef>
              <a:spcAft>
                <a:spcPts val="0"/>
              </a:spcAft>
              <a:buNone/>
            </a:pPr>
            <a:r>
              <a:rPr b="1" lang="en" sz="1677">
                <a:solidFill>
                  <a:srgbClr val="1F1F1F"/>
                </a:solidFill>
              </a:rPr>
              <a:t>        store.subscribe(showState);</a:t>
            </a:r>
            <a:endParaRPr b="1" sz="1677">
              <a:solidFill>
                <a:srgbClr val="1F1F1F"/>
              </a:solidFill>
            </a:endParaRPr>
          </a:p>
          <a:p>
            <a:pPr indent="0" lvl="0" marL="0" rtl="0" algn="l">
              <a:spcBef>
                <a:spcPts val="0"/>
              </a:spcBef>
              <a:spcAft>
                <a:spcPts val="0"/>
              </a:spcAft>
              <a:buNone/>
            </a:pPr>
            <a:r>
              <a:t/>
            </a:r>
            <a:endParaRPr b="1" sz="1677">
              <a:solidFill>
                <a:srgbClr val="1F1F1F"/>
              </a:solidFill>
            </a:endParaRPr>
          </a:p>
          <a:p>
            <a:pPr indent="0" lvl="0" marL="0" rtl="0" algn="l">
              <a:spcBef>
                <a:spcPts val="0"/>
              </a:spcBef>
              <a:spcAft>
                <a:spcPts val="0"/>
              </a:spcAft>
              <a:buNone/>
            </a:pPr>
            <a:r>
              <a:rPr b="1" lang="en" sz="1677">
                <a:solidFill>
                  <a:srgbClr val="1F1F1F"/>
                </a:solidFill>
              </a:rPr>
              <a:t>        function showState() {</a:t>
            </a:r>
            <a:endParaRPr b="1" sz="1677">
              <a:solidFill>
                <a:srgbClr val="1F1F1F"/>
              </a:solidFill>
            </a:endParaRPr>
          </a:p>
          <a:p>
            <a:pPr indent="0" lvl="0" marL="0" rtl="0" algn="l">
              <a:spcBef>
                <a:spcPts val="0"/>
              </a:spcBef>
              <a:spcAft>
                <a:spcPts val="0"/>
              </a:spcAft>
              <a:buNone/>
            </a:pPr>
            <a:r>
              <a:rPr b="1" lang="en" sz="1677">
                <a:solidFill>
                  <a:srgbClr val="1F1F1F"/>
                </a:solidFill>
              </a:rPr>
              <a:t>            console.log(store.getState());</a:t>
            </a:r>
            <a:endParaRPr b="1" sz="1677">
              <a:solidFill>
                <a:srgbClr val="1F1F1F"/>
              </a:solidFill>
            </a:endParaRPr>
          </a:p>
          <a:p>
            <a:pPr indent="0" lvl="0" marL="0" rtl="0" algn="l">
              <a:spcBef>
                <a:spcPts val="0"/>
              </a:spcBef>
              <a:spcAft>
                <a:spcPts val="0"/>
              </a:spcAft>
              <a:buNone/>
            </a:pPr>
            <a:r>
              <a:rPr b="1" lang="en" sz="1677">
                <a:solidFill>
                  <a:srgbClr val="1F1F1F"/>
                </a:solidFill>
              </a:rPr>
              <a:t>        }</a:t>
            </a:r>
            <a:endParaRPr b="1" sz="1677">
              <a:solidFill>
                <a:srgbClr val="1F1F1F"/>
              </a:solidFill>
            </a:endParaRPr>
          </a:p>
          <a:p>
            <a:pPr indent="0" lvl="0" marL="0" rtl="0" algn="l">
              <a:spcBef>
                <a:spcPts val="0"/>
              </a:spcBef>
              <a:spcAft>
                <a:spcPts val="0"/>
              </a:spcAft>
              <a:buNone/>
            </a:pPr>
            <a:r>
              <a:rPr b="1" lang="en" sz="1677">
                <a:solidFill>
                  <a:srgbClr val="1F1F1F"/>
                </a:solidFill>
              </a:rPr>
              <a:t>        store.dispatch(addPerson(1, "Greg", 5));</a:t>
            </a:r>
            <a:endParaRPr b="1" sz="1677">
              <a:solidFill>
                <a:srgbClr val="1F1F1F"/>
              </a:solidFill>
            </a:endParaRPr>
          </a:p>
          <a:p>
            <a:pPr indent="0" lvl="0" marL="0" rtl="0" algn="l">
              <a:spcBef>
                <a:spcPts val="0"/>
              </a:spcBef>
              <a:spcAft>
                <a:spcPts val="0"/>
              </a:spcAft>
              <a:buNone/>
            </a:pPr>
            <a:r>
              <a:rPr b="1" lang="en" sz="1677">
                <a:solidFill>
                  <a:srgbClr val="1F1F1F"/>
                </a:solidFill>
              </a:rPr>
              <a:t>        store.dispatch(addPerson(2, "Carol", 3));</a:t>
            </a:r>
            <a:endParaRPr b="1" sz="1677">
              <a:solidFill>
                <a:srgbClr val="1F1F1F"/>
              </a:solidFill>
            </a:endParaRPr>
          </a:p>
          <a:p>
            <a:pPr indent="0" lvl="0" marL="0" rtl="0" algn="l">
              <a:spcBef>
                <a:spcPts val="0"/>
              </a:spcBef>
              <a:spcAft>
                <a:spcPts val="0"/>
              </a:spcAft>
              <a:buNone/>
            </a:pPr>
            <a:r>
              <a:rPr b="1" lang="en" sz="1677">
                <a:solidFill>
                  <a:srgbClr val="1F1F1F"/>
                </a:solidFill>
              </a:rPr>
              <a:t>        store.dispatch(addPerson(3, "Gabriel", 6));</a:t>
            </a:r>
            <a:endParaRPr b="1" sz="1677">
              <a:solidFill>
                <a:srgbClr val="1F1F1F"/>
              </a:solidFill>
            </a:endParaRPr>
          </a:p>
          <a:p>
            <a:pPr indent="0" lvl="0" marL="0" rtl="0" algn="l">
              <a:spcBef>
                <a:spcPts val="0"/>
              </a:spcBef>
              <a:spcAft>
                <a:spcPts val="0"/>
              </a:spcAft>
              <a:buNone/>
            </a:pPr>
            <a:r>
              <a:rPr b="1" lang="en" sz="1677">
                <a:solidFill>
                  <a:srgbClr val="1F1F1F"/>
                </a:solidFill>
              </a:rPr>
              <a:t>        store.dispatch(addPerson(4, "Fred", 8));</a:t>
            </a:r>
            <a:endParaRPr b="1" sz="1677">
              <a:solidFill>
                <a:srgbClr val="1F1F1F"/>
              </a:solidFill>
            </a:endParaRPr>
          </a:p>
          <a:p>
            <a:pPr indent="0" lvl="0" marL="0" rtl="0" algn="l">
              <a:spcBef>
                <a:spcPts val="0"/>
              </a:spcBef>
              <a:spcAft>
                <a:spcPts val="0"/>
              </a:spcAft>
              <a:buNone/>
            </a:pPr>
            <a:r>
              <a:rPr b="1" lang="en" sz="1677">
                <a:solidFill>
                  <a:srgbClr val="1F1F1F"/>
                </a:solidFill>
              </a:rPr>
              <a:t>        store.dispatch(removePerson(4));</a:t>
            </a:r>
            <a:endParaRPr b="1" sz="1677">
              <a:solidFill>
                <a:srgbClr val="1F1F1F"/>
              </a:solidFill>
            </a:endParaRPr>
          </a:p>
          <a:p>
            <a:pPr indent="0" lvl="0" marL="0" rtl="0" algn="l">
              <a:spcBef>
                <a:spcPts val="0"/>
              </a:spcBef>
              <a:spcAft>
                <a:spcPts val="0"/>
              </a:spcAft>
              <a:buNone/>
            </a:pPr>
            <a:r>
              <a:t/>
            </a:r>
            <a:endParaRPr b="1" sz="1900">
              <a:solidFill>
                <a:srgbClr val="38761D"/>
              </a:solidFill>
            </a:endParaRPr>
          </a:p>
          <a:p>
            <a:pPr indent="0" lvl="0" marL="0" rtl="0" algn="l">
              <a:spcBef>
                <a:spcPts val="0"/>
              </a:spcBef>
              <a:spcAft>
                <a:spcPts val="0"/>
              </a:spcAft>
              <a:buNone/>
            </a:pPr>
            <a:r>
              <a:t/>
            </a:r>
            <a:endParaRPr b="1" sz="1977">
              <a:solidFill>
                <a:srgbClr val="000000"/>
              </a:solidFill>
            </a:endParaRPr>
          </a:p>
          <a:p>
            <a:pPr indent="0" lvl="0" marL="0" rtl="0" algn="l">
              <a:spcBef>
                <a:spcPts val="0"/>
              </a:spcBef>
              <a:spcAft>
                <a:spcPts val="0"/>
              </a:spcAft>
              <a:buNone/>
            </a:pPr>
            <a:r>
              <a:t/>
            </a:r>
            <a:endParaRPr b="1" sz="1977">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type="ctrTitle"/>
          </p:nvPr>
        </p:nvSpPr>
        <p:spPr>
          <a:xfrm>
            <a:off x="1089600" y="1822825"/>
            <a:ext cx="6840000" cy="1574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End Of Chapter 10</a:t>
            </a:r>
            <a:endParaRPr b="1" sz="60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