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Nuni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italic.fntdata"/><Relationship Id="rId14" Type="http://schemas.openxmlformats.org/officeDocument/2006/relationships/font" Target="fonts/Nunito-bold.fntdata"/><Relationship Id="rId16"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28b42bda0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28b42bda0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28b42bda0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28b42bda0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f28b42bda0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f28b42bda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28b42bda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28b42bda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28b42bda0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28b42bda0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f28b42bda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f28b42bda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741625" y="1822825"/>
            <a:ext cx="7383600" cy="1574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Beginning React</a:t>
            </a:r>
            <a:endParaRPr b="1" sz="60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723300" y="465000"/>
            <a:ext cx="7697400" cy="3356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Chapter 6</a:t>
            </a:r>
            <a:endParaRPr b="1">
              <a:solidFill>
                <a:srgbClr val="38761D"/>
              </a:solidFill>
            </a:endParaRPr>
          </a:p>
          <a:p>
            <a:pPr indent="0" lvl="0" marL="0" rtl="0" algn="ctr">
              <a:spcBef>
                <a:spcPts val="0"/>
              </a:spcBef>
              <a:spcAft>
                <a:spcPts val="0"/>
              </a:spcAft>
              <a:buNone/>
            </a:pPr>
            <a:r>
              <a:rPr b="1" lang="en">
                <a:solidFill>
                  <a:srgbClr val="38761D"/>
                </a:solidFill>
              </a:rPr>
              <a:t>Building Forms Using Formik</a:t>
            </a:r>
            <a:endParaRPr b="1">
              <a:solidFill>
                <a:srgbClr val="38761D"/>
              </a:solidFill>
            </a:endParaRPr>
          </a:p>
          <a:p>
            <a:pPr indent="0" lvl="0" marL="0" rtl="0" algn="l">
              <a:spcBef>
                <a:spcPts val="0"/>
              </a:spcBef>
              <a:spcAft>
                <a:spcPts val="0"/>
              </a:spcAft>
              <a:buNone/>
            </a:pPr>
            <a:r>
              <a:t/>
            </a:r>
            <a:endParaRPr b="1">
              <a:solidFill>
                <a:srgbClr val="38761D"/>
              </a:solidFill>
            </a:endParaRPr>
          </a:p>
          <a:p>
            <a:pPr indent="0" lvl="0" marL="0" rtl="0" algn="l">
              <a:spcBef>
                <a:spcPts val="0"/>
              </a:spcBef>
              <a:spcAft>
                <a:spcPts val="0"/>
              </a:spcAft>
              <a:buNone/>
            </a:pPr>
            <a:r>
              <a:rPr b="1" lang="en">
                <a:solidFill>
                  <a:srgbClr val="000000"/>
                </a:solidFill>
              </a:rPr>
              <a:t>Brief Summary of Chapter 6</a:t>
            </a:r>
            <a:endParaRPr b="1">
              <a:solidFill>
                <a:srgbClr val="000000"/>
              </a:solidFill>
            </a:endParaRPr>
          </a:p>
          <a:p>
            <a:pPr indent="-393700" lvl="0" marL="457200" rtl="0" algn="l">
              <a:spcBef>
                <a:spcPts val="0"/>
              </a:spcBef>
              <a:spcAft>
                <a:spcPts val="0"/>
              </a:spcAft>
              <a:buClr>
                <a:srgbClr val="000000"/>
              </a:buClr>
              <a:buSzPts val="2600"/>
              <a:buChar char="●"/>
            </a:pPr>
            <a:r>
              <a:rPr lang="en" sz="2600">
                <a:solidFill>
                  <a:srgbClr val="000000"/>
                </a:solidFill>
              </a:rPr>
              <a:t>What is Formik</a:t>
            </a:r>
            <a:endParaRPr sz="2600">
              <a:solidFill>
                <a:srgbClr val="000000"/>
              </a:solidFill>
            </a:endParaRPr>
          </a:p>
          <a:p>
            <a:pPr indent="-393700" lvl="0" marL="457200" rtl="0" algn="l">
              <a:spcBef>
                <a:spcPts val="0"/>
              </a:spcBef>
              <a:spcAft>
                <a:spcPts val="0"/>
              </a:spcAft>
              <a:buClr>
                <a:srgbClr val="000000"/>
              </a:buClr>
              <a:buSzPts val="2600"/>
              <a:buChar char="●"/>
            </a:pPr>
            <a:r>
              <a:rPr lang="en" sz="2600">
                <a:solidFill>
                  <a:srgbClr val="000000"/>
                </a:solidFill>
              </a:rPr>
              <a:t>Types of Formik Components</a:t>
            </a:r>
            <a:endParaRPr sz="2600">
              <a:solidFill>
                <a:srgbClr val="000000"/>
              </a:solidFill>
            </a:endParaRPr>
          </a:p>
          <a:p>
            <a:pPr indent="-393700" lvl="0" marL="457200" rtl="0" algn="l">
              <a:spcBef>
                <a:spcPts val="0"/>
              </a:spcBef>
              <a:spcAft>
                <a:spcPts val="0"/>
              </a:spcAft>
              <a:buClr>
                <a:srgbClr val="000000"/>
              </a:buClr>
              <a:buSzPts val="2600"/>
              <a:buChar char="●"/>
            </a:pPr>
            <a:r>
              <a:rPr lang="en" sz="2600">
                <a:solidFill>
                  <a:srgbClr val="000000"/>
                </a:solidFill>
              </a:rPr>
              <a:t>Key features of Formik</a:t>
            </a:r>
            <a:endParaRPr b="1">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type="title"/>
          </p:nvPr>
        </p:nvSpPr>
        <p:spPr>
          <a:xfrm>
            <a:off x="676375" y="685075"/>
            <a:ext cx="7938300" cy="3131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333">
                <a:solidFill>
                  <a:srgbClr val="38761D"/>
                </a:solidFill>
              </a:rPr>
              <a:t>What is Formik?</a:t>
            </a:r>
            <a:endParaRPr b="1" sz="3333">
              <a:solidFill>
                <a:srgbClr val="38761D"/>
              </a:solidFill>
            </a:endParaRPr>
          </a:p>
          <a:p>
            <a:pPr indent="0" lvl="0" marL="0" rtl="0" algn="l">
              <a:spcBef>
                <a:spcPts val="0"/>
              </a:spcBef>
              <a:spcAft>
                <a:spcPts val="0"/>
              </a:spcAft>
              <a:buNone/>
            </a:pPr>
            <a:r>
              <a:t/>
            </a:r>
            <a:endParaRPr b="1" sz="1333">
              <a:solidFill>
                <a:srgbClr val="38761D"/>
              </a:solidFill>
            </a:endParaRPr>
          </a:p>
          <a:p>
            <a:pPr indent="0" lvl="0" marL="0" rtl="0" algn="l">
              <a:lnSpc>
                <a:spcPct val="115000"/>
              </a:lnSpc>
              <a:spcBef>
                <a:spcPts val="1200"/>
              </a:spcBef>
              <a:spcAft>
                <a:spcPts val="0"/>
              </a:spcAft>
              <a:buNone/>
            </a:pPr>
            <a:r>
              <a:rPr b="1" lang="en" sz="2111">
                <a:solidFill>
                  <a:srgbClr val="000000"/>
                </a:solidFill>
              </a:rPr>
              <a:t>Formik is a popular library in React used for managing and validating forms. It simplifies the process of handling form state, validation, and submission. With Formik, you can easily manage form values, handle user input, and validate fields without dealing with the complexities of React’s built-in form handling.</a:t>
            </a:r>
            <a:endParaRPr b="1" sz="2111">
              <a:solidFill>
                <a:srgbClr val="000000"/>
              </a:solidFill>
            </a:endParaRPr>
          </a:p>
          <a:p>
            <a:pPr indent="0" lvl="0" marL="0" rtl="0" algn="l">
              <a:spcBef>
                <a:spcPts val="1200"/>
              </a:spcBef>
              <a:spcAft>
                <a:spcPts val="0"/>
              </a:spcAft>
              <a:buNone/>
            </a:pPr>
            <a:r>
              <a:t/>
            </a:r>
            <a:endParaRPr b="1">
              <a:solidFill>
                <a:srgbClr val="38761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469775" y="297950"/>
            <a:ext cx="8264400" cy="4523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333">
                <a:solidFill>
                  <a:srgbClr val="38761D"/>
                </a:solidFill>
              </a:rPr>
              <a:t>Types of Formik</a:t>
            </a:r>
            <a:endParaRPr b="1" sz="3333">
              <a:solidFill>
                <a:srgbClr val="38761D"/>
              </a:solidFill>
            </a:endParaRPr>
          </a:p>
          <a:p>
            <a:pPr indent="0" lvl="0" marL="0" rtl="0" algn="l">
              <a:spcBef>
                <a:spcPts val="0"/>
              </a:spcBef>
              <a:spcAft>
                <a:spcPts val="0"/>
              </a:spcAft>
              <a:buNone/>
            </a:pPr>
            <a:r>
              <a:t/>
            </a:r>
            <a:endParaRPr b="1" sz="2144">
              <a:solidFill>
                <a:srgbClr val="38761D"/>
              </a:solidFill>
            </a:endParaRPr>
          </a:p>
          <a:p>
            <a:pPr indent="0" lvl="0" marL="0" rtl="0" algn="l">
              <a:spcBef>
                <a:spcPts val="0"/>
              </a:spcBef>
              <a:spcAft>
                <a:spcPts val="0"/>
              </a:spcAft>
              <a:buNone/>
            </a:pPr>
            <a:r>
              <a:rPr b="1" lang="en" sz="2144">
                <a:solidFill>
                  <a:srgbClr val="38761D"/>
                </a:solidFill>
              </a:rPr>
              <a:t>Formik:</a:t>
            </a:r>
            <a:r>
              <a:rPr b="1" lang="en" sz="2144">
                <a:solidFill>
                  <a:srgbClr val="000000"/>
                </a:solidFill>
              </a:rPr>
              <a:t> This is the top-level component that manages form state, handles validation, and provides methods for form submission. It wraps your form and provides context for form values, errors, and handlers.</a:t>
            </a:r>
            <a:endParaRPr b="1" sz="2144">
              <a:solidFill>
                <a:srgbClr val="000000"/>
              </a:solidFill>
            </a:endParaRPr>
          </a:p>
          <a:p>
            <a:pPr indent="0" lvl="0" marL="0" rtl="0" algn="l">
              <a:spcBef>
                <a:spcPts val="0"/>
              </a:spcBef>
              <a:spcAft>
                <a:spcPts val="0"/>
              </a:spcAft>
              <a:buNone/>
            </a:pPr>
            <a:r>
              <a:t/>
            </a:r>
            <a:endParaRPr b="1" sz="1366">
              <a:solidFill>
                <a:srgbClr val="000000"/>
              </a:solidFill>
            </a:endParaRPr>
          </a:p>
          <a:p>
            <a:pPr indent="0" lvl="0" marL="0" rtl="0" algn="l">
              <a:spcBef>
                <a:spcPts val="0"/>
              </a:spcBef>
              <a:spcAft>
                <a:spcPts val="0"/>
              </a:spcAft>
              <a:buNone/>
            </a:pPr>
            <a:r>
              <a:rPr b="1" lang="en" sz="2144">
                <a:solidFill>
                  <a:srgbClr val="38761D"/>
                </a:solidFill>
              </a:rPr>
              <a:t>Form:</a:t>
            </a:r>
            <a:r>
              <a:rPr b="1" lang="en" sz="2144">
                <a:solidFill>
                  <a:srgbClr val="000000"/>
                </a:solidFill>
              </a:rPr>
              <a:t> A component that renders a &lt;form&gt; element with Formik's handling of submission and validation. It automatically binds the form’s onSubmit event to Formik’s submission handler.</a:t>
            </a:r>
            <a:endParaRPr b="1" sz="2144">
              <a:solidFill>
                <a:srgbClr val="000000"/>
              </a:solidFill>
            </a:endParaRPr>
          </a:p>
          <a:p>
            <a:pPr indent="0" lvl="0" marL="0" rtl="0" algn="l">
              <a:spcBef>
                <a:spcPts val="0"/>
              </a:spcBef>
              <a:spcAft>
                <a:spcPts val="0"/>
              </a:spcAft>
              <a:buNone/>
            </a:pPr>
            <a:r>
              <a:t/>
            </a:r>
            <a:endParaRPr b="1" sz="1366">
              <a:solidFill>
                <a:srgbClr val="000000"/>
              </a:solidFill>
            </a:endParaRPr>
          </a:p>
          <a:p>
            <a:pPr indent="0" lvl="0" marL="0" rtl="0" algn="l">
              <a:spcBef>
                <a:spcPts val="0"/>
              </a:spcBef>
              <a:spcAft>
                <a:spcPts val="0"/>
              </a:spcAft>
              <a:buNone/>
            </a:pPr>
            <a:r>
              <a:rPr b="1" lang="en" sz="2144">
                <a:solidFill>
                  <a:srgbClr val="38761D"/>
                </a:solidFill>
              </a:rPr>
              <a:t>Field:</a:t>
            </a:r>
            <a:r>
              <a:rPr b="1" lang="en" sz="2144">
                <a:solidFill>
                  <a:srgbClr val="000000"/>
                </a:solidFill>
              </a:rPr>
              <a:t> A component for rendering individual form fields. It connects to Formik’s state and provides props for handling form values, errors, and change events. It can be used with various input types and custom components.</a:t>
            </a:r>
            <a:endParaRPr b="1" sz="2144">
              <a:solidFill>
                <a:srgbClr val="000000"/>
              </a:solidFill>
            </a:endParaRPr>
          </a:p>
          <a:p>
            <a:pPr indent="0" lvl="0" marL="0" rtl="0" algn="l">
              <a:spcBef>
                <a:spcPts val="0"/>
              </a:spcBef>
              <a:spcAft>
                <a:spcPts val="0"/>
              </a:spcAft>
              <a:buNone/>
            </a:pPr>
            <a:r>
              <a:t/>
            </a:r>
            <a:endParaRPr b="1" sz="1111">
              <a:solidFill>
                <a:srgbClr val="38761D"/>
              </a:solidFill>
            </a:endParaRPr>
          </a:p>
          <a:p>
            <a:pPr indent="0" lvl="0" marL="0" rtl="0" algn="l">
              <a:spcBef>
                <a:spcPts val="0"/>
              </a:spcBef>
              <a:spcAft>
                <a:spcPts val="0"/>
              </a:spcAft>
              <a:buNone/>
            </a:pPr>
            <a:r>
              <a:t/>
            </a:r>
            <a:endParaRPr b="1">
              <a:solidFill>
                <a:srgbClr val="38761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426275" y="845600"/>
            <a:ext cx="8275200" cy="3530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155">
                <a:solidFill>
                  <a:srgbClr val="38761D"/>
                </a:solidFill>
              </a:rPr>
              <a:t>ErrorMessage:</a:t>
            </a:r>
            <a:r>
              <a:rPr b="1" lang="en" sz="2155">
                <a:solidFill>
                  <a:srgbClr val="000000"/>
                </a:solidFill>
              </a:rPr>
              <a:t> A component for displaying error messages related to a specific field. It fetches the error message from Formik’s state based on the field name.</a:t>
            </a:r>
            <a:endParaRPr b="1" sz="2155">
              <a:solidFill>
                <a:srgbClr val="000000"/>
              </a:solidFill>
            </a:endParaRPr>
          </a:p>
          <a:p>
            <a:pPr indent="0" lvl="0" marL="0" rtl="0" algn="l">
              <a:spcBef>
                <a:spcPts val="0"/>
              </a:spcBef>
              <a:spcAft>
                <a:spcPts val="0"/>
              </a:spcAft>
              <a:buNone/>
            </a:pPr>
            <a:r>
              <a:t/>
            </a:r>
            <a:endParaRPr b="1" sz="2155">
              <a:solidFill>
                <a:srgbClr val="000000"/>
              </a:solidFill>
            </a:endParaRPr>
          </a:p>
          <a:p>
            <a:pPr indent="0" lvl="0" marL="0" rtl="0" algn="l">
              <a:spcBef>
                <a:spcPts val="0"/>
              </a:spcBef>
              <a:spcAft>
                <a:spcPts val="0"/>
              </a:spcAft>
              <a:buNone/>
            </a:pPr>
            <a:r>
              <a:rPr b="1" lang="en" sz="2155">
                <a:solidFill>
                  <a:srgbClr val="38761D"/>
                </a:solidFill>
              </a:rPr>
              <a:t>FastField:</a:t>
            </a:r>
            <a:r>
              <a:rPr b="1" lang="en" sz="2155">
                <a:solidFill>
                  <a:srgbClr val="000000"/>
                </a:solidFill>
              </a:rPr>
              <a:t> Similar to &lt;Field&gt;, but optimized for performance. It is used for fields that do not need to re-render on every form state change, such as static or infrequently updated fields.</a:t>
            </a:r>
            <a:endParaRPr b="1" sz="2155">
              <a:solidFill>
                <a:srgbClr val="000000"/>
              </a:solidFill>
            </a:endParaRPr>
          </a:p>
          <a:p>
            <a:pPr indent="0" lvl="0" marL="0" rtl="0" algn="l">
              <a:spcBef>
                <a:spcPts val="0"/>
              </a:spcBef>
              <a:spcAft>
                <a:spcPts val="0"/>
              </a:spcAft>
              <a:buNone/>
            </a:pPr>
            <a:r>
              <a:t/>
            </a:r>
            <a:endParaRPr b="1" sz="2155">
              <a:solidFill>
                <a:srgbClr val="000000"/>
              </a:solidFill>
            </a:endParaRPr>
          </a:p>
          <a:p>
            <a:pPr indent="0" lvl="0" marL="0" rtl="0" algn="l">
              <a:spcBef>
                <a:spcPts val="0"/>
              </a:spcBef>
              <a:spcAft>
                <a:spcPts val="0"/>
              </a:spcAft>
              <a:buNone/>
            </a:pPr>
            <a:r>
              <a:rPr b="1" lang="en" sz="2155">
                <a:solidFill>
                  <a:srgbClr val="38761D"/>
                </a:solidFill>
              </a:rPr>
              <a:t>FieldArray: </a:t>
            </a:r>
            <a:r>
              <a:rPr b="1" lang="en" sz="2155">
                <a:solidFill>
                  <a:srgbClr val="000000"/>
                </a:solidFill>
              </a:rPr>
              <a:t>A component for handling arrays of fields. It provides methods to add, remove, or manipulate array items in the form state.</a:t>
            </a:r>
            <a:endParaRPr b="1" sz="2155">
              <a:solidFill>
                <a:srgbClr val="000000"/>
              </a:solidFill>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458900" y="341450"/>
            <a:ext cx="8297100" cy="4458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Key features of Formik</a:t>
            </a:r>
            <a:endParaRPr b="1">
              <a:solidFill>
                <a:srgbClr val="38761D"/>
              </a:solidFill>
            </a:endParaRPr>
          </a:p>
          <a:p>
            <a:pPr indent="0" lvl="0" marL="0" rtl="0" algn="l">
              <a:spcBef>
                <a:spcPts val="0"/>
              </a:spcBef>
              <a:spcAft>
                <a:spcPts val="0"/>
              </a:spcAft>
              <a:buNone/>
            </a:pPr>
            <a:r>
              <a:t/>
            </a:r>
            <a:endParaRPr b="1" sz="1111">
              <a:solidFill>
                <a:srgbClr val="38761D"/>
              </a:solidFill>
            </a:endParaRPr>
          </a:p>
          <a:p>
            <a:pPr indent="0" lvl="0" marL="0" rtl="0" algn="l">
              <a:spcBef>
                <a:spcPts val="0"/>
              </a:spcBef>
              <a:spcAft>
                <a:spcPts val="0"/>
              </a:spcAft>
              <a:buNone/>
            </a:pPr>
            <a:r>
              <a:rPr b="1" lang="en" sz="2222">
                <a:solidFill>
                  <a:srgbClr val="38761D"/>
                </a:solidFill>
              </a:rPr>
              <a:t>Form State Management:</a:t>
            </a:r>
            <a:r>
              <a:rPr b="1" lang="en" sz="2222">
                <a:solidFill>
                  <a:srgbClr val="000000"/>
                </a:solidFill>
              </a:rPr>
              <a:t> Formik keeps track of form values, errors, and submission status.</a:t>
            </a:r>
            <a:endParaRPr b="1" sz="2222">
              <a:solidFill>
                <a:srgbClr val="000000"/>
              </a:solidFill>
            </a:endParaRPr>
          </a:p>
          <a:p>
            <a:pPr indent="0" lvl="0" marL="0" rtl="0" algn="l">
              <a:spcBef>
                <a:spcPts val="0"/>
              </a:spcBef>
              <a:spcAft>
                <a:spcPts val="0"/>
              </a:spcAft>
              <a:buNone/>
            </a:pPr>
            <a:r>
              <a:t/>
            </a:r>
            <a:endParaRPr b="1" sz="1000">
              <a:solidFill>
                <a:srgbClr val="000000"/>
              </a:solidFill>
            </a:endParaRPr>
          </a:p>
          <a:p>
            <a:pPr indent="0" lvl="0" marL="0" rtl="0" algn="l">
              <a:spcBef>
                <a:spcPts val="0"/>
              </a:spcBef>
              <a:spcAft>
                <a:spcPts val="0"/>
              </a:spcAft>
              <a:buNone/>
            </a:pPr>
            <a:r>
              <a:rPr b="1" lang="en" sz="2222">
                <a:solidFill>
                  <a:srgbClr val="38761D"/>
                </a:solidFill>
              </a:rPr>
              <a:t>Validation:</a:t>
            </a:r>
            <a:r>
              <a:rPr b="1" lang="en" sz="2222">
                <a:solidFill>
                  <a:srgbClr val="000000"/>
                </a:solidFill>
              </a:rPr>
              <a:t> It supports both synchronous and asynchronous validation, integrating with validation libraries like Yup for schema-based validation.</a:t>
            </a:r>
            <a:endParaRPr b="1" sz="2222">
              <a:solidFill>
                <a:srgbClr val="000000"/>
              </a:solidFill>
            </a:endParaRPr>
          </a:p>
          <a:p>
            <a:pPr indent="0" lvl="0" marL="0" rtl="0" algn="l">
              <a:spcBef>
                <a:spcPts val="0"/>
              </a:spcBef>
              <a:spcAft>
                <a:spcPts val="0"/>
              </a:spcAft>
              <a:buNone/>
            </a:pPr>
            <a:r>
              <a:t/>
            </a:r>
            <a:endParaRPr b="1" sz="1000">
              <a:solidFill>
                <a:srgbClr val="000000"/>
              </a:solidFill>
            </a:endParaRPr>
          </a:p>
          <a:p>
            <a:pPr indent="0" lvl="0" marL="0" rtl="0" algn="l">
              <a:spcBef>
                <a:spcPts val="0"/>
              </a:spcBef>
              <a:spcAft>
                <a:spcPts val="0"/>
              </a:spcAft>
              <a:buNone/>
            </a:pPr>
            <a:r>
              <a:rPr b="1" lang="en" sz="2222">
                <a:solidFill>
                  <a:srgbClr val="38761D"/>
                </a:solidFill>
              </a:rPr>
              <a:t>Field Handling:</a:t>
            </a:r>
            <a:r>
              <a:rPr b="1" lang="en" sz="2222">
                <a:solidFill>
                  <a:srgbClr val="000000"/>
                </a:solidFill>
              </a:rPr>
              <a:t> Formik provides helper components and hooks to manage form fields and their values efficiently.</a:t>
            </a:r>
            <a:endParaRPr b="1" sz="2222">
              <a:solidFill>
                <a:srgbClr val="000000"/>
              </a:solidFill>
            </a:endParaRPr>
          </a:p>
          <a:p>
            <a:pPr indent="0" lvl="0" marL="0" rtl="0" algn="l">
              <a:spcBef>
                <a:spcPts val="0"/>
              </a:spcBef>
              <a:spcAft>
                <a:spcPts val="0"/>
              </a:spcAft>
              <a:buNone/>
            </a:pPr>
            <a:r>
              <a:t/>
            </a:r>
            <a:endParaRPr b="1" sz="1000">
              <a:solidFill>
                <a:srgbClr val="000000"/>
              </a:solidFill>
            </a:endParaRPr>
          </a:p>
          <a:p>
            <a:pPr indent="0" lvl="0" marL="0" rtl="0" algn="l">
              <a:spcBef>
                <a:spcPts val="0"/>
              </a:spcBef>
              <a:spcAft>
                <a:spcPts val="0"/>
              </a:spcAft>
              <a:buNone/>
            </a:pPr>
            <a:r>
              <a:rPr b="1" lang="en" sz="2222">
                <a:solidFill>
                  <a:srgbClr val="38761D"/>
                </a:solidFill>
              </a:rPr>
              <a:t>Submission Handling: </a:t>
            </a:r>
            <a:r>
              <a:rPr b="1" lang="en" sz="2222">
                <a:solidFill>
                  <a:srgbClr val="000000"/>
                </a:solidFill>
              </a:rPr>
              <a:t>It manages form submission and provides a way to handle form submission events.</a:t>
            </a:r>
            <a:endParaRPr b="1">
              <a:solidFill>
                <a:srgbClr val="38761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type="ctrTitle"/>
          </p:nvPr>
        </p:nvSpPr>
        <p:spPr>
          <a:xfrm>
            <a:off x="1372325" y="1822825"/>
            <a:ext cx="6491700" cy="1530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End Of Chapter 6</a:t>
            </a:r>
            <a:endParaRPr b="1" sz="6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